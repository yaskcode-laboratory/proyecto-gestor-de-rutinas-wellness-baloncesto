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6" r:id="rId3"/>
    <p:sldId id="265" r:id="rId4"/>
    <p:sldId id="279" r:id="rId5"/>
    <p:sldId id="280" r:id="rId6"/>
    <p:sldId id="277" r:id="rId7"/>
    <p:sldId id="282" r:id="rId8"/>
    <p:sldId id="289" r:id="rId9"/>
    <p:sldId id="286" r:id="rId10"/>
    <p:sldId id="287" r:id="rId11"/>
    <p:sldId id="288" r:id="rId12"/>
    <p:sldId id="266" r:id="rId13"/>
    <p:sldId id="281" r:id="rId14"/>
    <p:sldId id="274" r:id="rId15"/>
    <p:sldId id="275" r:id="rId16"/>
    <p:sldId id="284" r:id="rId17"/>
    <p:sldId id="270" r:id="rId18"/>
    <p:sldId id="276" r:id="rId19"/>
    <p:sldId id="290" r:id="rId20"/>
    <p:sldId id="272" r:id="rId21"/>
    <p:sldId id="273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7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43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 smtClean="0"/>
              <a:t>Haga clic para modificar el estilo de título del patrón</a:t>
            </a:r>
            <a:endParaRPr lang="es-VE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 smtClean="0"/>
              <a:t>Haga clic para editar el estilo de subtítulo del patrón</a:t>
            </a:r>
            <a:endParaRPr lang="es-V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93B575-880D-49D2-8A82-DE0618B8EED9}" type="datetimeFigureOut">
              <a:rPr lang="es-VE" smtClean="0"/>
              <a:t>5/10/2026</a:t>
            </a:fld>
            <a:endParaRPr lang="es-V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V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09156-D94A-49C2-BCAF-F5C01C01892D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18147635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VE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V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93B575-880D-49D2-8A82-DE0618B8EED9}" type="datetimeFigureOut">
              <a:rPr lang="es-VE" smtClean="0"/>
              <a:t>5/10/2026</a:t>
            </a:fld>
            <a:endParaRPr lang="es-V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V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09156-D94A-49C2-BCAF-F5C01C01892D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9959528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 smtClean="0"/>
              <a:t>Haga clic para modificar el estilo de título del patrón</a:t>
            </a:r>
            <a:endParaRPr lang="es-V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93B575-880D-49D2-8A82-DE0618B8EED9}" type="datetimeFigureOut">
              <a:rPr lang="es-VE" smtClean="0"/>
              <a:t>5/10/2026</a:t>
            </a:fld>
            <a:endParaRPr lang="es-V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V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09156-D94A-49C2-BCAF-F5C01C01892D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33526106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VE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VE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VE"/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93B575-880D-49D2-8A82-DE0618B8EED9}" type="datetimeFigureOut">
              <a:rPr lang="es-VE" smtClean="0"/>
              <a:t>5/10/2026</a:t>
            </a:fld>
            <a:endParaRPr lang="es-V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V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09156-D94A-49C2-BCAF-F5C01C01892D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30483710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V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VE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VE"/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93B575-880D-49D2-8A82-DE0618B8EED9}" type="datetimeFigureOut">
              <a:rPr lang="es-VE" smtClean="0"/>
              <a:t>5/10/2026</a:t>
            </a:fld>
            <a:endParaRPr lang="es-VE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VE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09156-D94A-49C2-BCAF-F5C01C01892D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28336014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VE"/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93B575-880D-49D2-8A82-DE0618B8EED9}" type="datetimeFigureOut">
              <a:rPr lang="es-VE" smtClean="0"/>
              <a:t>5/10/2026</a:t>
            </a:fld>
            <a:endParaRPr lang="es-VE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VE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09156-D94A-49C2-BCAF-F5C01C01892D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9595923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93B575-880D-49D2-8A82-DE0618B8EED9}" type="datetimeFigureOut">
              <a:rPr lang="es-VE" smtClean="0"/>
              <a:t>5/10/2026</a:t>
            </a:fld>
            <a:endParaRPr lang="es-VE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VE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09156-D94A-49C2-BCAF-F5C01C01892D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2577038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 smtClean="0"/>
              <a:t>Haga clic para modificar el estilo de título del patrón</a:t>
            </a:r>
            <a:endParaRPr lang="es-VE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VE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93B575-880D-49D2-8A82-DE0618B8EED9}" type="datetimeFigureOut">
              <a:rPr lang="es-VE" smtClean="0"/>
              <a:t>5/10/2026</a:t>
            </a:fld>
            <a:endParaRPr lang="es-V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V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09156-D94A-49C2-BCAF-F5C01C01892D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231520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 smtClean="0"/>
              <a:t>Haga clic para modificar el estilo de título del patrón</a:t>
            </a:r>
            <a:endParaRPr lang="es-VE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VE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93B575-880D-49D2-8A82-DE0618B8EED9}" type="datetimeFigureOut">
              <a:rPr lang="es-VE" smtClean="0"/>
              <a:t>5/10/2026</a:t>
            </a:fld>
            <a:endParaRPr lang="es-V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V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09156-D94A-49C2-BCAF-F5C01C01892D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13631849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VE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V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93B575-880D-49D2-8A82-DE0618B8EED9}" type="datetimeFigureOut">
              <a:rPr lang="es-VE" smtClean="0"/>
              <a:t>5/10/2026</a:t>
            </a:fld>
            <a:endParaRPr lang="es-V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V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09156-D94A-49C2-BCAF-F5C01C01892D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11056699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 smtClean="0"/>
              <a:t>Haga clic para modificar el estilo de título del patrón</a:t>
            </a:r>
            <a:endParaRPr lang="es-VE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V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93B575-880D-49D2-8A82-DE0618B8EED9}" type="datetimeFigureOut">
              <a:rPr lang="es-VE" smtClean="0"/>
              <a:t>5/10/2026</a:t>
            </a:fld>
            <a:endParaRPr lang="es-V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V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09156-D94A-49C2-BCAF-F5C01C01892D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3464801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 smtClean="0"/>
              <a:t>Haga clic para modificar el estilo de título del patrón</a:t>
            </a:r>
            <a:endParaRPr lang="es-V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V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93B575-880D-49D2-8A82-DE0618B8EED9}" type="datetimeFigureOut">
              <a:rPr lang="es-VE" smtClean="0"/>
              <a:t>5/10/2026</a:t>
            </a:fld>
            <a:endParaRPr lang="es-V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V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509156-D94A-49C2-BCAF-F5C01C01892D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16536706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Imagen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7965" y="282653"/>
            <a:ext cx="1020690" cy="12461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ángulo 4"/>
          <p:cNvSpPr/>
          <p:nvPr/>
        </p:nvSpPr>
        <p:spPr>
          <a:xfrm>
            <a:off x="3214688" y="259255"/>
            <a:ext cx="5129212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s-VE" sz="20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UNIVERSIDAD DEL ZULIA           </a:t>
            </a:r>
            <a:endParaRPr lang="es-VE" sz="2000" dirty="0" smtClean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s-VE" sz="200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FACULTAD</a:t>
            </a:r>
            <a:r>
              <a:rPr lang="es-VE" sz="2000" spc="-15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s-VE" sz="200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EXPERIMENTAL</a:t>
            </a:r>
            <a:r>
              <a:rPr lang="es-VE" sz="2000" spc="-3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s-VE" sz="200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DE</a:t>
            </a:r>
            <a:r>
              <a:rPr lang="es-VE" sz="2000" spc="-2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s-VE" sz="200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CIENCIAS</a:t>
            </a:r>
          </a:p>
          <a:p>
            <a:pPr algn="ctr"/>
            <a:r>
              <a:rPr lang="es-VE" sz="2000" dirty="0" smtClean="0"/>
              <a:t>DIVISIÓN DE PROGRAMAS ESPECIALES</a:t>
            </a:r>
            <a:endParaRPr lang="en-US" sz="2000" dirty="0" smtClean="0"/>
          </a:p>
          <a:p>
            <a:pPr algn="ctr"/>
            <a:r>
              <a:rPr lang="es-VE" sz="2000" dirty="0" smtClean="0"/>
              <a:t>LICENCIATURA EN COMPUTACIÓN</a:t>
            </a:r>
            <a:endParaRPr lang="es-VE" sz="2000" dirty="0"/>
          </a:p>
        </p:txBody>
      </p:sp>
      <p:sp>
        <p:nvSpPr>
          <p:cNvPr id="8" name="Rectángulo 7"/>
          <p:cNvSpPr/>
          <p:nvPr/>
        </p:nvSpPr>
        <p:spPr>
          <a:xfrm>
            <a:off x="1807593" y="2190371"/>
            <a:ext cx="8511908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s-VE" sz="440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INGENIERÍA DE SOFTWARE</a:t>
            </a:r>
          </a:p>
        </p:txBody>
      </p:sp>
      <p:sp>
        <p:nvSpPr>
          <p:cNvPr id="6" name="Rectángulo 5"/>
          <p:cNvSpPr/>
          <p:nvPr/>
        </p:nvSpPr>
        <p:spPr>
          <a:xfrm>
            <a:off x="2264097" y="3783005"/>
            <a:ext cx="86725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VE" sz="2800" dirty="0" smtClean="0"/>
              <a:t>SISTEMA GESTOR DE RUTINAS WELLNESS DE BALONCESTO</a:t>
            </a:r>
            <a:endParaRPr lang="es-VE" sz="2800" dirty="0"/>
          </a:p>
        </p:txBody>
      </p:sp>
      <p:sp>
        <p:nvSpPr>
          <p:cNvPr id="10" name="Rectángulo 9"/>
          <p:cNvSpPr/>
          <p:nvPr/>
        </p:nvSpPr>
        <p:spPr>
          <a:xfrm>
            <a:off x="5640411" y="6199063"/>
            <a:ext cx="157799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VE" sz="16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PERIODO</a:t>
            </a:r>
            <a:r>
              <a:rPr lang="es-VE" sz="1600" spc="-4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s-VE" sz="1600" spc="-4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 - 2026</a:t>
            </a:r>
            <a:endParaRPr lang="es-VE" sz="1600" dirty="0"/>
          </a:p>
        </p:txBody>
      </p:sp>
      <p:sp>
        <p:nvSpPr>
          <p:cNvPr id="9" name="Rectángulo 8"/>
          <p:cNvSpPr/>
          <p:nvPr/>
        </p:nvSpPr>
        <p:spPr>
          <a:xfrm>
            <a:off x="21869" y="2926939"/>
            <a:ext cx="12192000" cy="503434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800" dirty="0" smtClean="0">
                <a:latin typeface="Verdana" panose="020B0604030504040204" pitchFamily="34" charset="0"/>
                <a:ea typeface="Verdana" panose="020B0604030504040204" pitchFamily="34" charset="0"/>
              </a:rPr>
              <a:t>PROYECTO FINAL</a:t>
            </a:r>
            <a:endParaRPr lang="es-VE" sz="2800" dirty="0"/>
          </a:p>
        </p:txBody>
      </p:sp>
      <p:sp>
        <p:nvSpPr>
          <p:cNvPr id="11" name="Rectángulo 10"/>
          <p:cNvSpPr/>
          <p:nvPr/>
        </p:nvSpPr>
        <p:spPr>
          <a:xfrm>
            <a:off x="8824264" y="5442419"/>
            <a:ext cx="165090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VE" b="1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Presentado por</a:t>
            </a:r>
            <a:endParaRPr lang="es-VE" b="1" dirty="0"/>
          </a:p>
        </p:txBody>
      </p:sp>
      <p:sp>
        <p:nvSpPr>
          <p:cNvPr id="12" name="Rectángulo 11"/>
          <p:cNvSpPr/>
          <p:nvPr/>
        </p:nvSpPr>
        <p:spPr>
          <a:xfrm>
            <a:off x="9493381" y="5795051"/>
            <a:ext cx="13570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VE" dirty="0" err="1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Yi</a:t>
            </a:r>
            <a:r>
              <a:rPr lang="es-VE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s-VE" dirty="0" err="1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Victor</a:t>
            </a:r>
            <a:r>
              <a:rPr lang="es-VE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endParaRPr lang="es-VE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48901" y="186362"/>
            <a:ext cx="1375526" cy="1375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25509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/>
          <p:cNvSpPr/>
          <p:nvPr/>
        </p:nvSpPr>
        <p:spPr>
          <a:xfrm>
            <a:off x="0" y="0"/>
            <a:ext cx="12192000" cy="503434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PROYECTO FINAL</a:t>
            </a:r>
            <a:endParaRPr lang="es-VE" sz="2400" dirty="0"/>
          </a:p>
        </p:txBody>
      </p:sp>
      <p:sp>
        <p:nvSpPr>
          <p:cNvPr id="5" name="Rectángulo 4"/>
          <p:cNvSpPr/>
          <p:nvPr/>
        </p:nvSpPr>
        <p:spPr>
          <a:xfrm>
            <a:off x="0" y="503434"/>
            <a:ext cx="12192000" cy="554804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AGENDA</a:t>
            </a:r>
            <a:endParaRPr lang="es-VE" sz="2400" dirty="0"/>
          </a:p>
        </p:txBody>
      </p:sp>
      <p:sp>
        <p:nvSpPr>
          <p:cNvPr id="7" name="CuadroTexto 6"/>
          <p:cNvSpPr txBox="1"/>
          <p:nvPr/>
        </p:nvSpPr>
        <p:spPr>
          <a:xfrm>
            <a:off x="883767" y="1561672"/>
            <a:ext cx="10323871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39750" indent="-539750">
              <a:buFont typeface="+mj-lt"/>
              <a:buAutoNum type="arabicPeriod"/>
            </a:pPr>
            <a:r>
              <a:rPr lang="es-VE" sz="2400" dirty="0" smtClean="0"/>
              <a:t>Descripción del Proyecto</a:t>
            </a:r>
          </a:p>
          <a:p>
            <a:pPr marL="539750" indent="-539750">
              <a:buFont typeface="+mj-lt"/>
              <a:buAutoNum type="arabicPeriod"/>
            </a:pPr>
            <a:r>
              <a:rPr lang="es-VE" sz="2400" dirty="0" smtClean="0"/>
              <a:t>Estado del Arte</a:t>
            </a:r>
          </a:p>
          <a:p>
            <a:pPr marL="539750" indent="-539750">
              <a:buFont typeface="+mj-lt"/>
              <a:buAutoNum type="arabicPeriod"/>
            </a:pPr>
            <a:r>
              <a:rPr lang="es-VE" sz="2400" dirty="0" smtClean="0"/>
              <a:t>Metodología de Desarrollo de SW</a:t>
            </a:r>
          </a:p>
          <a:p>
            <a:pPr marL="539750" indent="-539750">
              <a:buFont typeface="+mj-lt"/>
              <a:buAutoNum type="arabicPeriod"/>
            </a:pPr>
            <a:r>
              <a:rPr lang="es-VE" sz="2400" dirty="0" smtClean="0"/>
              <a:t>Planificación del Proyecto de SW</a:t>
            </a:r>
          </a:p>
          <a:p>
            <a:pPr marL="539750" indent="-539750">
              <a:buFont typeface="+mj-lt"/>
              <a:buAutoNum type="arabicPeriod"/>
            </a:pPr>
            <a:r>
              <a:rPr lang="es-VE" sz="2400" dirty="0" smtClean="0"/>
              <a:t>Riesgos del Proyecto de SW</a:t>
            </a:r>
          </a:p>
          <a:p>
            <a:pPr marL="539750" indent="-539750">
              <a:buFont typeface="+mj-lt"/>
              <a:buAutoNum type="arabicPeriod"/>
            </a:pPr>
            <a:r>
              <a:rPr lang="es-VE" sz="2400" dirty="0"/>
              <a:t>Tecnologías y Herramientas de Desarrollo</a:t>
            </a:r>
          </a:p>
          <a:p>
            <a:pPr marL="539750" indent="-539750">
              <a:buFont typeface="+mj-lt"/>
              <a:buAutoNum type="arabicPeriod"/>
            </a:pPr>
            <a:r>
              <a:rPr lang="es-VE" sz="2400" dirty="0" smtClean="0"/>
              <a:t>Diagrama de Casos de Uso (</a:t>
            </a:r>
            <a:r>
              <a:rPr lang="es-VE" sz="2400" dirty="0" err="1" smtClean="0"/>
              <a:t>definción</a:t>
            </a:r>
            <a:r>
              <a:rPr lang="es-VE" sz="2400" dirty="0" smtClean="0"/>
              <a:t> de requisitos)</a:t>
            </a:r>
          </a:p>
          <a:p>
            <a:pPr marL="539750" indent="-539750">
              <a:buFont typeface="+mj-lt"/>
              <a:buAutoNum type="arabicPeriod"/>
            </a:pPr>
            <a:r>
              <a:rPr lang="es-VE" sz="2400" dirty="0" smtClean="0"/>
              <a:t>Diagrama de Clases</a:t>
            </a:r>
          </a:p>
          <a:p>
            <a:pPr marL="539750" indent="-539750">
              <a:buFont typeface="+mj-lt"/>
              <a:buAutoNum type="arabicPeriod"/>
            </a:pPr>
            <a:r>
              <a:rPr lang="es-VE" sz="2400" dirty="0" smtClean="0"/>
              <a:t>Base de Datos </a:t>
            </a:r>
          </a:p>
          <a:p>
            <a:pPr marL="539750" indent="-539750">
              <a:buFont typeface="+mj-lt"/>
              <a:buAutoNum type="arabicPeriod"/>
            </a:pPr>
            <a:r>
              <a:rPr lang="es-VE" sz="2400" dirty="0" smtClean="0"/>
              <a:t>Interfaces de Entrada / Salida</a:t>
            </a:r>
          </a:p>
          <a:p>
            <a:pPr marL="539750" indent="-539750">
              <a:buFont typeface="+mj-lt"/>
              <a:buAutoNum type="arabicPeriod"/>
            </a:pPr>
            <a:r>
              <a:rPr lang="es-VE" sz="2400" dirty="0" smtClean="0"/>
              <a:t>Arquitectura del Sistema</a:t>
            </a:r>
          </a:p>
          <a:p>
            <a:pPr marL="539750" indent="-539750">
              <a:buFont typeface="+mj-lt"/>
              <a:buAutoNum type="arabicPeriod"/>
            </a:pPr>
            <a:r>
              <a:rPr lang="es-VE" sz="2400" dirty="0" smtClean="0"/>
              <a:t>Demostración de Pruebas</a:t>
            </a:r>
          </a:p>
          <a:p>
            <a:pPr marL="539750" indent="-539750">
              <a:buFont typeface="+mj-lt"/>
              <a:buAutoNum type="arabicPeriod"/>
            </a:pPr>
            <a:r>
              <a:rPr lang="es-VE" sz="2400" dirty="0" smtClean="0"/>
              <a:t>Plan de Mantenimiento</a:t>
            </a:r>
          </a:p>
        </p:txBody>
      </p:sp>
    </p:spTree>
    <p:extLst>
      <p:ext uri="{BB962C8B-B14F-4D97-AF65-F5344CB8AC3E}">
        <p14:creationId xmlns:p14="http://schemas.microsoft.com/office/powerpoint/2010/main" val="25637959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/>
          <p:cNvSpPr/>
          <p:nvPr/>
        </p:nvSpPr>
        <p:spPr>
          <a:xfrm>
            <a:off x="0" y="0"/>
            <a:ext cx="12192000" cy="503434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PROYECTO FINAL</a:t>
            </a:r>
            <a:endParaRPr lang="es-VE" sz="2400" dirty="0"/>
          </a:p>
        </p:txBody>
      </p:sp>
      <p:sp>
        <p:nvSpPr>
          <p:cNvPr id="5" name="Rectángulo 4"/>
          <p:cNvSpPr/>
          <p:nvPr/>
        </p:nvSpPr>
        <p:spPr>
          <a:xfrm>
            <a:off x="0" y="503434"/>
            <a:ext cx="12192000" cy="554804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DESCRIPCIÓN DEL PROYECTO</a:t>
            </a:r>
            <a:endParaRPr lang="es-VE" sz="2400" dirty="0"/>
          </a:p>
        </p:txBody>
      </p:sp>
      <p:sp>
        <p:nvSpPr>
          <p:cNvPr id="6" name="Rounded Rectangle 2"/>
          <p:cNvSpPr/>
          <p:nvPr/>
        </p:nvSpPr>
        <p:spPr>
          <a:xfrm>
            <a:off x="6210300" y="2372617"/>
            <a:ext cx="5524500" cy="3181350"/>
          </a:xfrm>
          <a:prstGeom prst="roundRect">
            <a:avLst>
              <a:gd name="adj" fmla="val 479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3"/>
          <p:cNvSpPr/>
          <p:nvPr/>
        </p:nvSpPr>
        <p:spPr>
          <a:xfrm>
            <a:off x="457200" y="1767780"/>
            <a:ext cx="5524500" cy="1433512"/>
          </a:xfrm>
          <a:prstGeom prst="roundRect">
            <a:avLst>
              <a:gd name="adj" fmla="val 7973"/>
            </a:avLst>
          </a:prstGeom>
          <a:solidFill>
            <a:srgbClr val="F0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4"/>
          <p:cNvSpPr/>
          <p:nvPr/>
        </p:nvSpPr>
        <p:spPr>
          <a:xfrm>
            <a:off x="457200" y="3353692"/>
            <a:ext cx="5524500" cy="1433512"/>
          </a:xfrm>
          <a:prstGeom prst="roundRect">
            <a:avLst>
              <a:gd name="adj" fmla="val 7973"/>
            </a:avLst>
          </a:prstGeom>
          <a:solidFill>
            <a:srgbClr val="F0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5"/>
          <p:cNvSpPr/>
          <p:nvPr/>
        </p:nvSpPr>
        <p:spPr>
          <a:xfrm>
            <a:off x="457200" y="4939605"/>
            <a:ext cx="5524500" cy="1219200"/>
          </a:xfrm>
          <a:prstGeom prst="roundRect">
            <a:avLst>
              <a:gd name="adj" fmla="val 9375"/>
            </a:avLst>
          </a:prstGeom>
          <a:solidFill>
            <a:srgbClr val="F0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6"/>
          <p:cNvSpPr/>
          <p:nvPr/>
        </p:nvSpPr>
        <p:spPr>
          <a:xfrm>
            <a:off x="6515100" y="3029842"/>
            <a:ext cx="4914900" cy="1905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7"/>
          <p:cNvSpPr/>
          <p:nvPr/>
        </p:nvSpPr>
        <p:spPr>
          <a:xfrm>
            <a:off x="457200" y="3191767"/>
            <a:ext cx="55245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8"/>
          <p:cNvSpPr/>
          <p:nvPr/>
        </p:nvSpPr>
        <p:spPr>
          <a:xfrm>
            <a:off x="457200" y="1767780"/>
            <a:ext cx="55245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9"/>
          <p:cNvSpPr/>
          <p:nvPr/>
        </p:nvSpPr>
        <p:spPr>
          <a:xfrm>
            <a:off x="457200" y="1767780"/>
            <a:ext cx="38100" cy="1433512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0"/>
          <p:cNvSpPr/>
          <p:nvPr/>
        </p:nvSpPr>
        <p:spPr>
          <a:xfrm>
            <a:off x="5972175" y="1767780"/>
            <a:ext cx="9525" cy="143351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1"/>
          <p:cNvSpPr/>
          <p:nvPr/>
        </p:nvSpPr>
        <p:spPr>
          <a:xfrm>
            <a:off x="457200" y="4777680"/>
            <a:ext cx="55245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2"/>
          <p:cNvSpPr/>
          <p:nvPr/>
        </p:nvSpPr>
        <p:spPr>
          <a:xfrm>
            <a:off x="457200" y="3353692"/>
            <a:ext cx="55245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3"/>
          <p:cNvSpPr/>
          <p:nvPr/>
        </p:nvSpPr>
        <p:spPr>
          <a:xfrm>
            <a:off x="457200" y="3353692"/>
            <a:ext cx="38100" cy="1433512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4"/>
          <p:cNvSpPr/>
          <p:nvPr/>
        </p:nvSpPr>
        <p:spPr>
          <a:xfrm>
            <a:off x="5972175" y="3353692"/>
            <a:ext cx="9525" cy="143351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5"/>
          <p:cNvSpPr/>
          <p:nvPr/>
        </p:nvSpPr>
        <p:spPr>
          <a:xfrm>
            <a:off x="457200" y="6149280"/>
            <a:ext cx="55245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6"/>
          <p:cNvSpPr/>
          <p:nvPr/>
        </p:nvSpPr>
        <p:spPr>
          <a:xfrm>
            <a:off x="457200" y="4939605"/>
            <a:ext cx="55245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17"/>
          <p:cNvSpPr/>
          <p:nvPr/>
        </p:nvSpPr>
        <p:spPr>
          <a:xfrm>
            <a:off x="457200" y="4939605"/>
            <a:ext cx="38100" cy="121920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18"/>
          <p:cNvSpPr/>
          <p:nvPr/>
        </p:nvSpPr>
        <p:spPr>
          <a:xfrm>
            <a:off x="5972175" y="4939605"/>
            <a:ext cx="9525" cy="12192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19"/>
          <p:cNvSpPr/>
          <p:nvPr/>
        </p:nvSpPr>
        <p:spPr>
          <a:xfrm>
            <a:off x="6515100" y="3239392"/>
            <a:ext cx="342900" cy="3429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0"/>
          <p:cNvSpPr/>
          <p:nvPr/>
        </p:nvSpPr>
        <p:spPr>
          <a:xfrm>
            <a:off x="6515100" y="3972817"/>
            <a:ext cx="342900" cy="3429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1"/>
          <p:cNvSpPr/>
          <p:nvPr/>
        </p:nvSpPr>
        <p:spPr>
          <a:xfrm>
            <a:off x="6515100" y="4706242"/>
            <a:ext cx="342900" cy="3429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6" name="Picture 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900" y="2029717"/>
            <a:ext cx="171450" cy="171450"/>
          </a:xfrm>
          <a:prstGeom prst="rect">
            <a:avLst/>
          </a:prstGeom>
        </p:spPr>
      </p:pic>
      <p:pic>
        <p:nvPicPr>
          <p:cNvPr id="27" name="Picture 2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900" y="3615630"/>
            <a:ext cx="171450" cy="171450"/>
          </a:xfrm>
          <a:prstGeom prst="rect">
            <a:avLst/>
          </a:prstGeom>
        </p:spPr>
      </p:pic>
      <p:pic>
        <p:nvPicPr>
          <p:cNvPr id="28" name="Picture 2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900" y="5201542"/>
            <a:ext cx="219075" cy="17145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515100" y="2677417"/>
            <a:ext cx="5260657" cy="257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Plus Jakarta Sans"/>
              </a:rPr>
              <a:t>Principales Objetivos del Software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0600" y="2005905"/>
            <a:ext cx="6308288" cy="2190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Plataforma Especializada en Baloncesto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3900" y="2320230"/>
            <a:ext cx="5114925" cy="6429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475569"/>
                </a:solidFill>
                <a:latin typeface="Plus Jakarta Sans"/>
              </a:rPr>
              <a:t>Sistema de autogestión wellness donde el usuario configura su perfil deportivo (posición, experiencia, biometría) y recibe rutinas optimizadas sin intermediarios humanos.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0600" y="3591817"/>
            <a:ext cx="6308288" cy="2190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Motor de IA Generativa &amp; Adaptativa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3900" y="3906142"/>
            <a:ext cx="5114925" cy="6429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475569"/>
                </a:solidFill>
                <a:latin typeface="Plus Jakarta Sans"/>
              </a:rPr>
              <a:t>Integración con Gemini IA para procesar el perfil y calibrar progresivamente la intensidad según la valoración de esfuerzo recibida al finalizar cada entrenamiento.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8225" y="5177730"/>
            <a:ext cx="6258282" cy="2190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Resiliencia Offline-First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3900" y="5492055"/>
            <a:ext cx="5114925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475569"/>
                </a:solidFill>
                <a:latin typeface="Plus Jakarta Sans"/>
              </a:rPr>
              <a:t>Base de datos SQLite local que permite consultar la biblioteca de ejercicios y ejecutar rutinas en zonas con conectividad inestable o nula.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2225" y="3239392"/>
            <a:ext cx="628650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 u="none">
                <a:solidFill>
                  <a:srgbClr val="FFFFFF"/>
                </a:solidFill>
                <a:latin typeface="Plus Jakarta Sans"/>
              </a:rPr>
              <a:t>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72225" y="3972817"/>
            <a:ext cx="628650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 u="none">
                <a:solidFill>
                  <a:srgbClr val="FFFFFF"/>
                </a:solidFill>
                <a:latin typeface="Plus Jakarta Sans"/>
              </a:rPr>
              <a:t>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72225" y="4706242"/>
            <a:ext cx="628650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 u="none">
                <a:solidFill>
                  <a:srgbClr val="FFFFFF"/>
                </a:solidFill>
                <a:latin typeface="Plus Jakarta Sans"/>
              </a:rPr>
              <a:t>3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7000875" y="3272730"/>
            <a:ext cx="4514850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u="none" dirty="0" err="1">
                <a:solidFill>
                  <a:srgbClr val="475569"/>
                </a:solidFill>
                <a:latin typeface="Plus Jakarta Sans"/>
              </a:rPr>
              <a:t>Autonomía</a:t>
            </a:r>
            <a:r>
              <a:rPr sz="1050" b="0" i="0" u="none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1050" b="0" i="0" u="none" dirty="0" err="1">
                <a:solidFill>
                  <a:srgbClr val="475569"/>
                </a:solidFill>
                <a:latin typeface="Plus Jakarta Sans"/>
              </a:rPr>
              <a:t>completa</a:t>
            </a:r>
            <a:r>
              <a:rPr sz="1050" b="0" i="0" u="none" dirty="0">
                <a:solidFill>
                  <a:srgbClr val="475569"/>
                </a:solidFill>
                <a:latin typeface="Plus Jakarta Sans"/>
              </a:rPr>
              <a:t> para el </a:t>
            </a:r>
            <a:r>
              <a:rPr sz="1050" b="0" i="0" u="none" dirty="0" err="1">
                <a:solidFill>
                  <a:srgbClr val="475569"/>
                </a:solidFill>
                <a:latin typeface="Plus Jakarta Sans"/>
              </a:rPr>
              <a:t>jugador</a:t>
            </a:r>
            <a:r>
              <a:rPr sz="1050" b="0" i="0" u="none" dirty="0">
                <a:solidFill>
                  <a:srgbClr val="475569"/>
                </a:solidFill>
                <a:latin typeface="Plus Jakarta Sans"/>
              </a:rPr>
              <a:t> con </a:t>
            </a:r>
            <a:r>
              <a:rPr sz="1050" b="0" i="0" u="none" dirty="0" err="1">
                <a:solidFill>
                  <a:srgbClr val="475569"/>
                </a:solidFill>
                <a:latin typeface="Plus Jakarta Sans"/>
              </a:rPr>
              <a:t>recomendaciones</a:t>
            </a:r>
            <a:r>
              <a:rPr sz="1050" b="0" i="0" u="none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1050" b="0" i="0" u="none" dirty="0" err="1">
                <a:solidFill>
                  <a:srgbClr val="475569"/>
                </a:solidFill>
                <a:latin typeface="Plus Jakarta Sans"/>
              </a:rPr>
              <a:t>generadas</a:t>
            </a:r>
            <a:r>
              <a:rPr sz="1050" b="0" i="0" u="none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1050" b="0" i="0" u="none" dirty="0" err="1">
                <a:solidFill>
                  <a:srgbClr val="475569"/>
                </a:solidFill>
                <a:latin typeface="Plus Jakarta Sans"/>
              </a:rPr>
              <a:t>por</a:t>
            </a:r>
            <a:r>
              <a:rPr sz="1050" b="0" i="0" u="none" dirty="0">
                <a:solidFill>
                  <a:srgbClr val="475569"/>
                </a:solidFill>
                <a:latin typeface="Plus Jakarta Sans"/>
              </a:rPr>
              <a:t> el motor </a:t>
            </a:r>
            <a:r>
              <a:rPr sz="1050" b="0" i="0" u="none" dirty="0" err="1">
                <a:solidFill>
                  <a:srgbClr val="475569"/>
                </a:solidFill>
                <a:latin typeface="Plus Jakarta Sans"/>
              </a:rPr>
              <a:t>inteligente</a:t>
            </a:r>
            <a:r>
              <a:rPr sz="1050" b="0" i="0" u="none" dirty="0">
                <a:solidFill>
                  <a:srgbClr val="475569"/>
                </a:solidFill>
                <a:latin typeface="Plus Jakarta Sans"/>
              </a:rPr>
              <a:t>.</a:t>
            </a:r>
          </a:p>
        </p:txBody>
      </p:sp>
      <p:sp>
        <p:nvSpPr>
          <p:cNvPr id="40" name="TextBox 41"/>
          <p:cNvSpPr txBox="1"/>
          <p:nvPr/>
        </p:nvSpPr>
        <p:spPr>
          <a:xfrm>
            <a:off x="7000875" y="3987105"/>
            <a:ext cx="4514850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u="none" dirty="0" err="1">
                <a:solidFill>
                  <a:srgbClr val="475569"/>
                </a:solidFill>
                <a:latin typeface="Plus Jakarta Sans"/>
              </a:rPr>
              <a:t>Retroalimentación</a:t>
            </a:r>
            <a:r>
              <a:rPr sz="1050" b="0" i="0" u="none" dirty="0">
                <a:solidFill>
                  <a:srgbClr val="475569"/>
                </a:solidFill>
                <a:latin typeface="Plus Jakarta Sans"/>
              </a:rPr>
              <a:t> post-</a:t>
            </a:r>
            <a:r>
              <a:rPr sz="1050" b="0" i="0" u="none" dirty="0" err="1">
                <a:solidFill>
                  <a:srgbClr val="475569"/>
                </a:solidFill>
                <a:latin typeface="Plus Jakarta Sans"/>
              </a:rPr>
              <a:t>entrenamiento</a:t>
            </a:r>
            <a:r>
              <a:rPr sz="1050" b="0" i="0" u="none" dirty="0">
                <a:solidFill>
                  <a:srgbClr val="475569"/>
                </a:solidFill>
                <a:latin typeface="Plus Jakarta Sans"/>
              </a:rPr>
              <a:t> (</a:t>
            </a:r>
            <a:r>
              <a:rPr sz="1050" b="0" i="0" u="none" dirty="0" err="1">
                <a:solidFill>
                  <a:srgbClr val="475569"/>
                </a:solidFill>
                <a:latin typeface="Plus Jakarta Sans"/>
              </a:rPr>
              <a:t>escala</a:t>
            </a:r>
            <a:r>
              <a:rPr sz="1050" b="0" i="0" u="none" dirty="0">
                <a:solidFill>
                  <a:srgbClr val="475569"/>
                </a:solidFill>
                <a:latin typeface="Plus Jakarta Sans"/>
              </a:rPr>
              <a:t> 1 a 5) para </a:t>
            </a:r>
            <a:r>
              <a:rPr sz="1050" b="0" i="0" u="none" dirty="0" err="1">
                <a:solidFill>
                  <a:srgbClr val="475569"/>
                </a:solidFill>
                <a:latin typeface="Plus Jakarta Sans"/>
              </a:rPr>
              <a:t>reajustar</a:t>
            </a:r>
            <a:r>
              <a:rPr sz="1050" b="0" i="0" u="none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1050" b="0" i="0" u="none" dirty="0" err="1">
                <a:solidFill>
                  <a:srgbClr val="475569"/>
                </a:solidFill>
                <a:latin typeface="Plus Jakarta Sans"/>
              </a:rPr>
              <a:t>automáticamente</a:t>
            </a:r>
            <a:r>
              <a:rPr sz="1050" b="0" i="0" u="none" dirty="0">
                <a:solidFill>
                  <a:srgbClr val="475569"/>
                </a:solidFill>
                <a:latin typeface="Plus Jakarta Sans"/>
              </a:rPr>
              <a:t> la </a:t>
            </a:r>
            <a:r>
              <a:rPr sz="1050" b="0" i="0" u="none" dirty="0" err="1">
                <a:solidFill>
                  <a:srgbClr val="475569"/>
                </a:solidFill>
                <a:latin typeface="Plus Jakarta Sans"/>
              </a:rPr>
              <a:t>sobrecarga</a:t>
            </a:r>
            <a:r>
              <a:rPr sz="1050" b="0" i="0" u="none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1050" b="0" i="0" u="none" dirty="0" err="1">
                <a:solidFill>
                  <a:srgbClr val="475569"/>
                </a:solidFill>
                <a:latin typeface="Plus Jakarta Sans"/>
              </a:rPr>
              <a:t>progresiva</a:t>
            </a:r>
            <a:r>
              <a:rPr sz="1050" b="0" i="0" u="none" dirty="0">
                <a:solidFill>
                  <a:srgbClr val="475569"/>
                </a:solidFill>
                <a:latin typeface="Plus Jakarta Sans"/>
              </a:rPr>
              <a:t>.</a:t>
            </a:r>
          </a:p>
        </p:txBody>
      </p:sp>
      <p:sp>
        <p:nvSpPr>
          <p:cNvPr id="41" name="TextBox 43"/>
          <p:cNvSpPr txBox="1"/>
          <p:nvPr/>
        </p:nvSpPr>
        <p:spPr>
          <a:xfrm>
            <a:off x="7000875" y="4706242"/>
            <a:ext cx="4514850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u="none" dirty="0" err="1">
                <a:solidFill>
                  <a:srgbClr val="475569"/>
                </a:solidFill>
                <a:latin typeface="Plus Jakarta Sans"/>
              </a:rPr>
              <a:t>Rutina</a:t>
            </a:r>
            <a:r>
              <a:rPr sz="1050" b="0" i="0" u="none" dirty="0">
                <a:solidFill>
                  <a:srgbClr val="475569"/>
                </a:solidFill>
                <a:latin typeface="Plus Jakarta Sans"/>
              </a:rPr>
              <a:t> base de </a:t>
            </a:r>
            <a:r>
              <a:rPr sz="1050" b="0" i="0" u="none" dirty="0" err="1">
                <a:solidFill>
                  <a:srgbClr val="475569"/>
                </a:solidFill>
                <a:latin typeface="Plus Jakarta Sans"/>
              </a:rPr>
              <a:t>contingencia</a:t>
            </a:r>
            <a:r>
              <a:rPr sz="1050" b="0" i="0" u="none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1050" b="0" i="0" u="none" dirty="0" err="1">
                <a:solidFill>
                  <a:srgbClr val="475569"/>
                </a:solidFill>
                <a:latin typeface="Plus Jakarta Sans"/>
              </a:rPr>
              <a:t>heurística</a:t>
            </a:r>
            <a:r>
              <a:rPr sz="1050" b="0" i="0" u="none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1050" b="0" i="0" u="none" dirty="0" err="1">
                <a:solidFill>
                  <a:srgbClr val="475569"/>
                </a:solidFill>
                <a:latin typeface="Plus Jakarta Sans"/>
              </a:rPr>
              <a:t>en</a:t>
            </a:r>
            <a:r>
              <a:rPr sz="1050" b="0" i="0" u="none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1050" b="0" i="0" u="none" dirty="0" err="1">
                <a:solidFill>
                  <a:srgbClr val="475569"/>
                </a:solidFill>
                <a:latin typeface="Plus Jakarta Sans"/>
              </a:rPr>
              <a:t>caso</a:t>
            </a:r>
            <a:r>
              <a:rPr sz="1050" b="0" i="0" u="none" dirty="0">
                <a:solidFill>
                  <a:srgbClr val="475569"/>
                </a:solidFill>
                <a:latin typeface="Plus Jakarta Sans"/>
              </a:rPr>
              <a:t> de </a:t>
            </a:r>
            <a:r>
              <a:rPr sz="1050" b="0" i="0" u="none" dirty="0" err="1">
                <a:solidFill>
                  <a:srgbClr val="475569"/>
                </a:solidFill>
                <a:latin typeface="Plus Jakarta Sans"/>
              </a:rPr>
              <a:t>fallas</a:t>
            </a:r>
            <a:r>
              <a:rPr sz="1050" b="0" i="0" u="none" dirty="0">
                <a:solidFill>
                  <a:srgbClr val="475569"/>
                </a:solidFill>
                <a:latin typeface="Plus Jakarta Sans"/>
              </a:rPr>
              <a:t> de red o </a:t>
            </a:r>
            <a:r>
              <a:rPr sz="1050" b="0" i="0" u="none" dirty="0" err="1">
                <a:solidFill>
                  <a:srgbClr val="475569"/>
                </a:solidFill>
                <a:latin typeface="Plus Jakarta Sans"/>
              </a:rPr>
              <a:t>indisponibilidad</a:t>
            </a:r>
            <a:r>
              <a:rPr sz="1050" b="0" i="0" u="none" dirty="0">
                <a:solidFill>
                  <a:srgbClr val="475569"/>
                </a:solidFill>
                <a:latin typeface="Plus Jakarta Sans"/>
              </a:rPr>
              <a:t> del </a:t>
            </a:r>
            <a:r>
              <a:rPr sz="1050" b="0" i="0" u="none" dirty="0" err="1">
                <a:solidFill>
                  <a:srgbClr val="475569"/>
                </a:solidFill>
                <a:latin typeface="Plus Jakarta Sans"/>
              </a:rPr>
              <a:t>servicio</a:t>
            </a:r>
            <a:r>
              <a:rPr sz="1050" b="0" i="0" u="none" dirty="0">
                <a:solidFill>
                  <a:srgbClr val="475569"/>
                </a:solidFill>
                <a:latin typeface="Plus Jakarta Sans"/>
              </a:rPr>
              <a:t> de IA.</a:t>
            </a:r>
          </a:p>
        </p:txBody>
      </p:sp>
    </p:spTree>
    <p:extLst>
      <p:ext uri="{BB962C8B-B14F-4D97-AF65-F5344CB8AC3E}">
        <p14:creationId xmlns:p14="http://schemas.microsoft.com/office/powerpoint/2010/main" val="23231630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/>
          <p:cNvSpPr/>
          <p:nvPr/>
        </p:nvSpPr>
        <p:spPr>
          <a:xfrm>
            <a:off x="0" y="0"/>
            <a:ext cx="12192000" cy="503434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PROYECTO FINAL</a:t>
            </a:r>
            <a:endParaRPr lang="es-VE" sz="2400" dirty="0"/>
          </a:p>
        </p:txBody>
      </p:sp>
      <p:sp>
        <p:nvSpPr>
          <p:cNvPr id="5" name="Rectángulo 4"/>
          <p:cNvSpPr/>
          <p:nvPr/>
        </p:nvSpPr>
        <p:spPr>
          <a:xfrm>
            <a:off x="0" y="503434"/>
            <a:ext cx="12192000" cy="554804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ESTADO DEL ARTE</a:t>
            </a:r>
            <a:endParaRPr lang="es-VE" sz="2400" dirty="0"/>
          </a:p>
        </p:txBody>
      </p:sp>
      <p:sp>
        <p:nvSpPr>
          <p:cNvPr id="6" name="Rounded Rectangle 2"/>
          <p:cNvSpPr/>
          <p:nvPr/>
        </p:nvSpPr>
        <p:spPr>
          <a:xfrm>
            <a:off x="457199" y="5832293"/>
            <a:ext cx="11277601" cy="802762"/>
          </a:xfrm>
          <a:prstGeom prst="roundRect">
            <a:avLst>
              <a:gd name="adj" fmla="val 12121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3"/>
          <p:cNvSpPr/>
          <p:nvPr/>
        </p:nvSpPr>
        <p:spPr>
          <a:xfrm>
            <a:off x="457199" y="3188845"/>
            <a:ext cx="2079473" cy="50547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4"/>
          <p:cNvSpPr/>
          <p:nvPr/>
        </p:nvSpPr>
        <p:spPr>
          <a:xfrm>
            <a:off x="2504479" y="3188845"/>
            <a:ext cx="1665876" cy="50547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5"/>
          <p:cNvSpPr/>
          <p:nvPr/>
        </p:nvSpPr>
        <p:spPr>
          <a:xfrm>
            <a:off x="4144565" y="3188845"/>
            <a:ext cx="1562477" cy="50547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6"/>
          <p:cNvSpPr/>
          <p:nvPr/>
        </p:nvSpPr>
        <p:spPr>
          <a:xfrm>
            <a:off x="5682853" y="3188845"/>
            <a:ext cx="1746298" cy="50547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7"/>
          <p:cNvSpPr/>
          <p:nvPr/>
        </p:nvSpPr>
        <p:spPr>
          <a:xfrm>
            <a:off x="7402115" y="3188845"/>
            <a:ext cx="1528010" cy="50547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8"/>
          <p:cNvSpPr/>
          <p:nvPr/>
        </p:nvSpPr>
        <p:spPr>
          <a:xfrm>
            <a:off x="8906469" y="3188845"/>
            <a:ext cx="2872805" cy="50547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9"/>
          <p:cNvSpPr/>
          <p:nvPr/>
        </p:nvSpPr>
        <p:spPr>
          <a:xfrm>
            <a:off x="457199" y="3522220"/>
            <a:ext cx="2079473" cy="50547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0"/>
          <p:cNvSpPr/>
          <p:nvPr/>
        </p:nvSpPr>
        <p:spPr>
          <a:xfrm>
            <a:off x="2504479" y="3522220"/>
            <a:ext cx="1665876" cy="50547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1"/>
          <p:cNvSpPr/>
          <p:nvPr/>
        </p:nvSpPr>
        <p:spPr>
          <a:xfrm>
            <a:off x="4144565" y="3522220"/>
            <a:ext cx="1562477" cy="50547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2"/>
          <p:cNvSpPr/>
          <p:nvPr/>
        </p:nvSpPr>
        <p:spPr>
          <a:xfrm>
            <a:off x="5682853" y="3522220"/>
            <a:ext cx="1746298" cy="50547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3"/>
          <p:cNvSpPr/>
          <p:nvPr/>
        </p:nvSpPr>
        <p:spPr>
          <a:xfrm>
            <a:off x="7402115" y="3522220"/>
            <a:ext cx="1528010" cy="50547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4"/>
          <p:cNvSpPr/>
          <p:nvPr/>
        </p:nvSpPr>
        <p:spPr>
          <a:xfrm>
            <a:off x="8906469" y="3522220"/>
            <a:ext cx="2872805" cy="50547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5"/>
          <p:cNvSpPr/>
          <p:nvPr/>
        </p:nvSpPr>
        <p:spPr>
          <a:xfrm>
            <a:off x="457199" y="3855595"/>
            <a:ext cx="2079473" cy="50547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6"/>
          <p:cNvSpPr/>
          <p:nvPr/>
        </p:nvSpPr>
        <p:spPr>
          <a:xfrm>
            <a:off x="2504479" y="3855595"/>
            <a:ext cx="1665876" cy="50547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17"/>
          <p:cNvSpPr/>
          <p:nvPr/>
        </p:nvSpPr>
        <p:spPr>
          <a:xfrm>
            <a:off x="4144565" y="3855595"/>
            <a:ext cx="1562477" cy="50547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18"/>
          <p:cNvSpPr/>
          <p:nvPr/>
        </p:nvSpPr>
        <p:spPr>
          <a:xfrm>
            <a:off x="5682853" y="3855595"/>
            <a:ext cx="1746298" cy="50547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19"/>
          <p:cNvSpPr/>
          <p:nvPr/>
        </p:nvSpPr>
        <p:spPr>
          <a:xfrm>
            <a:off x="7402115" y="3855595"/>
            <a:ext cx="1528010" cy="50547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0"/>
          <p:cNvSpPr/>
          <p:nvPr/>
        </p:nvSpPr>
        <p:spPr>
          <a:xfrm>
            <a:off x="8906469" y="3855595"/>
            <a:ext cx="2872805" cy="50547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1"/>
          <p:cNvSpPr/>
          <p:nvPr/>
        </p:nvSpPr>
        <p:spPr>
          <a:xfrm>
            <a:off x="457199" y="4188970"/>
            <a:ext cx="2079473" cy="50547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2"/>
          <p:cNvSpPr/>
          <p:nvPr/>
        </p:nvSpPr>
        <p:spPr>
          <a:xfrm>
            <a:off x="2504479" y="4188970"/>
            <a:ext cx="1665876" cy="50547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3"/>
          <p:cNvSpPr/>
          <p:nvPr/>
        </p:nvSpPr>
        <p:spPr>
          <a:xfrm>
            <a:off x="4144565" y="4188970"/>
            <a:ext cx="1562477" cy="50547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4"/>
          <p:cNvSpPr/>
          <p:nvPr/>
        </p:nvSpPr>
        <p:spPr>
          <a:xfrm>
            <a:off x="5682853" y="4188970"/>
            <a:ext cx="1746298" cy="50547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5"/>
          <p:cNvSpPr/>
          <p:nvPr/>
        </p:nvSpPr>
        <p:spPr>
          <a:xfrm>
            <a:off x="7402115" y="4188970"/>
            <a:ext cx="1528010" cy="50547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6"/>
          <p:cNvSpPr/>
          <p:nvPr/>
        </p:nvSpPr>
        <p:spPr>
          <a:xfrm>
            <a:off x="8906469" y="4188970"/>
            <a:ext cx="2872805" cy="50547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27"/>
          <p:cNvSpPr/>
          <p:nvPr/>
        </p:nvSpPr>
        <p:spPr>
          <a:xfrm>
            <a:off x="457199" y="4522345"/>
            <a:ext cx="2079473" cy="50547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28"/>
          <p:cNvSpPr/>
          <p:nvPr/>
        </p:nvSpPr>
        <p:spPr>
          <a:xfrm>
            <a:off x="2504479" y="4522345"/>
            <a:ext cx="1665876" cy="50547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29"/>
          <p:cNvSpPr/>
          <p:nvPr/>
        </p:nvSpPr>
        <p:spPr>
          <a:xfrm>
            <a:off x="4144565" y="4522345"/>
            <a:ext cx="1562477" cy="50547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0"/>
          <p:cNvSpPr/>
          <p:nvPr/>
        </p:nvSpPr>
        <p:spPr>
          <a:xfrm>
            <a:off x="5682853" y="4522345"/>
            <a:ext cx="1746298" cy="50547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1"/>
          <p:cNvSpPr/>
          <p:nvPr/>
        </p:nvSpPr>
        <p:spPr>
          <a:xfrm>
            <a:off x="7402115" y="4522345"/>
            <a:ext cx="1528010" cy="50547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2"/>
          <p:cNvSpPr/>
          <p:nvPr/>
        </p:nvSpPr>
        <p:spPr>
          <a:xfrm>
            <a:off x="8906469" y="4522345"/>
            <a:ext cx="2872805" cy="50547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37" name="Table 3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9451838"/>
              </p:ext>
            </p:extLst>
          </p:nvPr>
        </p:nvGraphicFramePr>
        <p:xfrm>
          <a:off x="374073" y="2227812"/>
          <a:ext cx="11538067" cy="2643448"/>
        </p:xfrm>
        <a:graphic>
          <a:graphicData uri="http://schemas.openxmlformats.org/drawingml/2006/table">
            <a:tbl>
              <a:tblPr/>
              <a:tblGrid>
                <a:gridCol w="2094563"/>
                <a:gridCol w="1677965"/>
                <a:gridCol w="1573816"/>
                <a:gridCol w="1758971"/>
                <a:gridCol w="1539099"/>
                <a:gridCol w="2893653"/>
              </a:tblGrid>
              <a:tr h="440574">
                <a:tc>
                  <a:txBody>
                    <a:bodyPr/>
                    <a:lstStyle/>
                    <a:p>
                      <a:pPr algn="l"/>
                      <a:r>
                        <a:rPr sz="975" b="1" i="0" u="none" dirty="0" err="1">
                          <a:solidFill>
                            <a:srgbClr val="FFFFFF"/>
                          </a:solidFill>
                          <a:latin typeface="Plus Jakarta Sans"/>
                        </a:rPr>
                        <a:t>Criterio</a:t>
                      </a:r>
                      <a:endParaRPr sz="975" b="1" i="0" u="none" dirty="0">
                        <a:solidFill>
                          <a:srgbClr val="FFFFFF"/>
                        </a:solidFill>
                        <a:latin typeface="Plus Jakarta Sans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75" b="1" i="0" u="none">
                          <a:solidFill>
                            <a:srgbClr val="FFFFFF"/>
                          </a:solidFill>
                          <a:latin typeface="Plus Jakarta Sans"/>
                        </a:rPr>
                        <a:t>HomeCourt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75" b="1" i="0" u="none">
                          <a:solidFill>
                            <a:srgbClr val="FFFFFF"/>
                          </a:solidFill>
                          <a:latin typeface="Plus Jakarta Sans"/>
                        </a:rPr>
                        <a:t>Ballogy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75" b="1" i="0" u="none">
                          <a:solidFill>
                            <a:srgbClr val="FFFFFF"/>
                          </a:solidFill>
                          <a:latin typeface="Plus Jakarta Sans"/>
                        </a:rPr>
                        <a:t>SpotBasket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75" b="1" i="0" u="none">
                          <a:solidFill>
                            <a:srgbClr val="FFFFFF"/>
                          </a:solidFill>
                          <a:latin typeface="Plus Jakarta Sans"/>
                        </a:rPr>
                        <a:t>Gym WP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75" b="1" i="0" u="none">
                          <a:solidFill>
                            <a:srgbClr val="FFFFFF"/>
                          </a:solidFill>
                          <a:latin typeface="Plus Jakarta Sans"/>
                        </a:rPr>
                        <a:t>Sistema Propuesto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2563EB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pPr algn="l"/>
                      <a:r>
                        <a:rPr sz="975" b="1" i="0" u="none">
                          <a:solidFill>
                            <a:srgbClr val="334155"/>
                          </a:solidFill>
                          <a:latin typeface="Plus Jakarta Sans"/>
                        </a:rPr>
                        <a:t>Tecnología IA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75" b="0" i="0" u="none">
                          <a:solidFill>
                            <a:srgbClr val="334155"/>
                          </a:solidFill>
                          <a:latin typeface="Plus Jakarta Sans"/>
                        </a:rPr>
                        <a:t>Computer Vision AR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75" b="0" i="0" u="none">
                          <a:solidFill>
                            <a:srgbClr val="334155"/>
                          </a:solidFill>
                          <a:latin typeface="Plus Jakarta Sans"/>
                        </a:rPr>
                        <a:t>Detección de tiro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75" b="0" i="0" u="none">
                          <a:solidFill>
                            <a:srgbClr val="334155"/>
                          </a:solidFill>
                          <a:latin typeface="Plus Jakarta Sans"/>
                        </a:rPr>
                        <a:t>Programas estáticos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75" b="0" i="0" u="none">
                          <a:solidFill>
                            <a:srgbClr val="334155"/>
                          </a:solidFill>
                          <a:latin typeface="Plus Jakarta Sans"/>
                        </a:rPr>
                        <a:t>Carga progresiva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75" b="1" i="0" u="none">
                          <a:solidFill>
                            <a:srgbClr val="1D4ED8"/>
                          </a:solidFill>
                          <a:latin typeface="Plus Jakarta Sans"/>
                        </a:rPr>
                        <a:t>Gemini 2.5 Pro + Fallback Heurístico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FF6FF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pPr algn="l"/>
                      <a:r>
                        <a:rPr sz="975" b="1" i="0" u="none">
                          <a:solidFill>
                            <a:srgbClr val="334155"/>
                          </a:solidFill>
                          <a:latin typeface="Plus Jakarta Sans"/>
                        </a:rPr>
                        <a:t>Especialidad Baloncesto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75" b="0" i="0" u="none">
                          <a:solidFill>
                            <a:srgbClr val="334155"/>
                          </a:solidFill>
                          <a:latin typeface="Plus Jakarta Sans"/>
                        </a:rPr>
                        <a:t>Tiro / Visión real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75" b="0" i="0" u="none">
                          <a:solidFill>
                            <a:srgbClr val="334155"/>
                          </a:solidFill>
                          <a:latin typeface="Plus Jakarta Sans"/>
                        </a:rPr>
                        <a:t>Drills y evaluación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75" b="0" i="0" u="none">
                          <a:solidFill>
                            <a:srgbClr val="334155"/>
                          </a:solidFill>
                          <a:latin typeface="Plus Jakarta Sans"/>
                        </a:rPr>
                        <a:t>Gestión academias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75" b="0" i="0" u="none">
                          <a:solidFill>
                            <a:srgbClr val="334155"/>
                          </a:solidFill>
                          <a:latin typeface="Plus Jakarta Sans"/>
                        </a:rPr>
                        <a:t>General Gimnasio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75" b="1" i="0" u="none">
                          <a:solidFill>
                            <a:srgbClr val="1D4ED8"/>
                          </a:solidFill>
                          <a:latin typeface="Plus Jakarta Sans"/>
                        </a:rPr>
                        <a:t>Wellness + Posición Baloncesto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FF6FF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pPr algn="l"/>
                      <a:r>
                        <a:rPr sz="975" b="1" i="0" u="none">
                          <a:solidFill>
                            <a:srgbClr val="334155"/>
                          </a:solidFill>
                          <a:latin typeface="Plus Jakarta Sans"/>
                        </a:rPr>
                        <a:t>Modo Offline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75" b="0" i="0" u="none">
                          <a:solidFill>
                            <a:srgbClr val="334155"/>
                          </a:solidFill>
                          <a:latin typeface="Plus Jakarta Sans"/>
                        </a:rPr>
                        <a:t>No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75" b="0" i="0" u="none">
                          <a:solidFill>
                            <a:srgbClr val="334155"/>
                          </a:solidFill>
                          <a:latin typeface="Plus Jakarta Sans"/>
                        </a:rPr>
                        <a:t>Parcial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75" b="0" i="0" u="none">
                          <a:solidFill>
                            <a:srgbClr val="334155"/>
                          </a:solidFill>
                          <a:latin typeface="Plus Jakarta Sans"/>
                        </a:rPr>
                        <a:t>No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75" b="0" i="0" u="none">
                          <a:solidFill>
                            <a:srgbClr val="334155"/>
                          </a:solidFill>
                          <a:latin typeface="Plus Jakarta Sans"/>
                        </a:rPr>
                        <a:t>Sí (Logs)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75" b="1" i="0" u="none">
                          <a:solidFill>
                            <a:srgbClr val="1D4ED8"/>
                          </a:solidFill>
                          <a:latin typeface="Plus Jakarta Sans"/>
                        </a:rPr>
                        <a:t>Sí (Base SQLite + Fallback local)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FF6FF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pPr algn="l"/>
                      <a:r>
                        <a:rPr sz="975" b="1" i="0" u="none">
                          <a:solidFill>
                            <a:srgbClr val="334155"/>
                          </a:solidFill>
                          <a:latin typeface="Plus Jakarta Sans"/>
                        </a:rPr>
                        <a:t>Calibración Esfuerzo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75" b="0" i="0" u="none">
                          <a:solidFill>
                            <a:srgbClr val="334155"/>
                          </a:solidFill>
                          <a:latin typeface="Plus Jakarta Sans"/>
                        </a:rPr>
                        <a:t>Biometría Apple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75" b="0" i="0" u="none">
                          <a:solidFill>
                            <a:srgbClr val="334155"/>
                          </a:solidFill>
                          <a:latin typeface="Plus Jakarta Sans"/>
                        </a:rPr>
                        <a:t>No especificado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75" b="0" i="0" u="none">
                          <a:solidFill>
                            <a:srgbClr val="334155"/>
                          </a:solidFill>
                          <a:latin typeface="Plus Jakarta Sans"/>
                        </a:rPr>
                        <a:t>No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75" b="0" i="0" u="none">
                          <a:solidFill>
                            <a:srgbClr val="334155"/>
                          </a:solidFill>
                          <a:latin typeface="Plus Jakarta Sans"/>
                        </a:rPr>
                        <a:t>Fuerza / Músculo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75" b="1" i="0" u="none">
                          <a:solidFill>
                            <a:srgbClr val="1D4ED8"/>
                          </a:solidFill>
                          <a:latin typeface="Plus Jakarta Sans"/>
                        </a:rPr>
                        <a:t>Ajuste RPE continuo (1 a 5)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FF6FF"/>
                    </a:solidFill>
                  </a:tcPr>
                </a:tc>
              </a:tr>
              <a:tr h="440578">
                <a:tc>
                  <a:txBody>
                    <a:bodyPr/>
                    <a:lstStyle/>
                    <a:p>
                      <a:pPr algn="l"/>
                      <a:r>
                        <a:rPr sz="975" b="1" i="0" u="none">
                          <a:solidFill>
                            <a:srgbClr val="334155"/>
                          </a:solidFill>
                          <a:latin typeface="Plus Jakarta Sans"/>
                        </a:rPr>
                        <a:t>Modelo Económico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75" b="0" i="0" u="none">
                          <a:solidFill>
                            <a:srgbClr val="334155"/>
                          </a:solidFill>
                          <a:latin typeface="Plus Jakarta Sans"/>
                        </a:rPr>
                        <a:t>$69.99 / año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75" b="0" i="0" u="none">
                          <a:solidFill>
                            <a:srgbClr val="334155"/>
                          </a:solidFill>
                          <a:latin typeface="Plus Jakarta Sans"/>
                        </a:rPr>
                        <a:t>Freemium / Teams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75" b="0" i="0" u="none">
                          <a:solidFill>
                            <a:srgbClr val="334155"/>
                          </a:solidFill>
                          <a:latin typeface="Plus Jakarta Sans"/>
                        </a:rPr>
                        <a:t>$39.99 / año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75" b="0" i="0" u="none">
                          <a:solidFill>
                            <a:srgbClr val="334155"/>
                          </a:solidFill>
                          <a:latin typeface="Plus Jakarta Sans"/>
                        </a:rPr>
                        <a:t>$14.99 / año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75" b="1" i="0" u="none" dirty="0">
                          <a:solidFill>
                            <a:srgbClr val="1D4ED8"/>
                          </a:solidFill>
                          <a:latin typeface="Plus Jakarta Sans"/>
                        </a:rPr>
                        <a:t>Sin </a:t>
                      </a:r>
                      <a:r>
                        <a:rPr sz="975" b="1" i="0" u="none" dirty="0" err="1">
                          <a:solidFill>
                            <a:srgbClr val="1D4ED8"/>
                          </a:solidFill>
                          <a:latin typeface="Plus Jakarta Sans"/>
                        </a:rPr>
                        <a:t>costo</a:t>
                      </a:r>
                      <a:r>
                        <a:rPr sz="975" b="1" i="0" u="none" dirty="0">
                          <a:solidFill>
                            <a:srgbClr val="1D4ED8"/>
                          </a:solidFill>
                          <a:latin typeface="Plus Jakarta Sans"/>
                        </a:rPr>
                        <a:t> / </a:t>
                      </a:r>
                      <a:r>
                        <a:rPr sz="975" b="1" i="0" u="none" dirty="0" err="1">
                          <a:solidFill>
                            <a:srgbClr val="1D4ED8"/>
                          </a:solidFill>
                          <a:latin typeface="Plus Jakarta Sans"/>
                        </a:rPr>
                        <a:t>Autogestión</a:t>
                      </a:r>
                      <a:r>
                        <a:rPr sz="975" b="1" i="0" u="none" dirty="0">
                          <a:solidFill>
                            <a:srgbClr val="1D4ED8"/>
                          </a:solidFill>
                          <a:latin typeface="Plus Jakarta Sans"/>
                        </a:rPr>
                        <a:t> Local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FF6FF"/>
                    </a:solidFill>
                  </a:tcPr>
                </a:tc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599556" y="6062224"/>
            <a:ext cx="11087100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u="none" dirty="0" err="1">
                <a:solidFill>
                  <a:srgbClr val="475569"/>
                </a:solidFill>
                <a:latin typeface="Plus Jakarta Sans"/>
              </a:rPr>
              <a:t>Ventaja</a:t>
            </a:r>
            <a:r>
              <a:rPr sz="1100" b="1" u="none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1100" b="1" u="none" dirty="0" err="1">
                <a:solidFill>
                  <a:srgbClr val="475569"/>
                </a:solidFill>
                <a:latin typeface="Plus Jakarta Sans"/>
              </a:rPr>
              <a:t>Competitiva</a:t>
            </a:r>
            <a:r>
              <a:rPr sz="1100" b="1" u="none" dirty="0">
                <a:solidFill>
                  <a:srgbClr val="475569"/>
                </a:solidFill>
                <a:latin typeface="Plus Jakarta Sans"/>
              </a:rPr>
              <a:t>: </a:t>
            </a:r>
            <a:r>
              <a:rPr sz="1100" u="none" dirty="0" err="1">
                <a:solidFill>
                  <a:srgbClr val="475569"/>
                </a:solidFill>
                <a:latin typeface="Plus Jakarta Sans"/>
              </a:rPr>
              <a:t>Mi</a:t>
            </a:r>
            <a:r>
              <a:rPr sz="1100" u="none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1100" u="none" dirty="0" err="1">
                <a:solidFill>
                  <a:srgbClr val="475569"/>
                </a:solidFill>
                <a:latin typeface="Plus Jakarta Sans"/>
              </a:rPr>
              <a:t>sistema</a:t>
            </a:r>
            <a:r>
              <a:rPr sz="1100" u="none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1100" u="none" dirty="0" err="1">
                <a:solidFill>
                  <a:srgbClr val="475569"/>
                </a:solidFill>
                <a:latin typeface="Plus Jakarta Sans"/>
              </a:rPr>
              <a:t>combina</a:t>
            </a:r>
            <a:r>
              <a:rPr sz="1100" u="none" dirty="0">
                <a:solidFill>
                  <a:srgbClr val="475569"/>
                </a:solidFill>
                <a:latin typeface="Plus Jakarta Sans"/>
              </a:rPr>
              <a:t> el </a:t>
            </a:r>
            <a:r>
              <a:rPr sz="1100" u="none" dirty="0" err="1">
                <a:solidFill>
                  <a:srgbClr val="475569"/>
                </a:solidFill>
                <a:latin typeface="Plus Jakarta Sans"/>
              </a:rPr>
              <a:t>poder</a:t>
            </a:r>
            <a:r>
              <a:rPr sz="1100" u="none" dirty="0">
                <a:solidFill>
                  <a:srgbClr val="475569"/>
                </a:solidFill>
                <a:latin typeface="Plus Jakarta Sans"/>
              </a:rPr>
              <a:t> de </a:t>
            </a:r>
            <a:r>
              <a:rPr sz="1100" u="none" dirty="0" err="1">
                <a:solidFill>
                  <a:srgbClr val="475569"/>
                </a:solidFill>
                <a:latin typeface="Plus Jakarta Sans"/>
              </a:rPr>
              <a:t>los</a:t>
            </a:r>
            <a:r>
              <a:rPr sz="1100" u="none" dirty="0">
                <a:solidFill>
                  <a:srgbClr val="475569"/>
                </a:solidFill>
                <a:latin typeface="Plus Jakarta Sans"/>
              </a:rPr>
              <a:t> LLM (Gemini) con </a:t>
            </a:r>
            <a:r>
              <a:rPr sz="1100" u="none" dirty="0" err="1">
                <a:solidFill>
                  <a:srgbClr val="475569"/>
                </a:solidFill>
                <a:latin typeface="Plus Jakarta Sans"/>
              </a:rPr>
              <a:t>una</a:t>
            </a:r>
            <a:r>
              <a:rPr sz="1100" u="none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1100" u="none" dirty="0" err="1">
                <a:solidFill>
                  <a:srgbClr val="475569"/>
                </a:solidFill>
                <a:latin typeface="Plus Jakarta Sans"/>
              </a:rPr>
              <a:t>arquitectura</a:t>
            </a:r>
            <a:r>
              <a:rPr sz="1100" u="none" dirty="0">
                <a:solidFill>
                  <a:srgbClr val="475569"/>
                </a:solidFill>
                <a:latin typeface="Plus Jakarta Sans"/>
              </a:rPr>
              <a:t> Offline-First </a:t>
            </a:r>
            <a:r>
              <a:rPr sz="1100" u="none" dirty="0" err="1">
                <a:solidFill>
                  <a:srgbClr val="475569"/>
                </a:solidFill>
                <a:latin typeface="Plus Jakarta Sans"/>
              </a:rPr>
              <a:t>optimizada</a:t>
            </a:r>
            <a:r>
              <a:rPr sz="1100" u="none" dirty="0">
                <a:solidFill>
                  <a:srgbClr val="475569"/>
                </a:solidFill>
                <a:latin typeface="Plus Jakarta Sans"/>
              </a:rPr>
              <a:t> para el </a:t>
            </a:r>
            <a:r>
              <a:rPr sz="1100" u="none" dirty="0" err="1">
                <a:solidFill>
                  <a:srgbClr val="475569"/>
                </a:solidFill>
                <a:latin typeface="Plus Jakarta Sans"/>
              </a:rPr>
              <a:t>entorno</a:t>
            </a:r>
            <a:r>
              <a:rPr sz="1100" u="none" dirty="0">
                <a:solidFill>
                  <a:srgbClr val="475569"/>
                </a:solidFill>
                <a:latin typeface="Plus Jakarta Sans"/>
              </a:rPr>
              <a:t> de </a:t>
            </a:r>
            <a:r>
              <a:rPr sz="1100" u="none" dirty="0" err="1">
                <a:solidFill>
                  <a:srgbClr val="475569"/>
                </a:solidFill>
                <a:latin typeface="Plus Jakarta Sans"/>
              </a:rPr>
              <a:t>conectividad</a:t>
            </a:r>
            <a:r>
              <a:rPr sz="1100" u="none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1100" u="none" dirty="0" err="1">
                <a:solidFill>
                  <a:srgbClr val="475569"/>
                </a:solidFill>
                <a:latin typeface="Plus Jakarta Sans"/>
              </a:rPr>
              <a:t>venezolano</a:t>
            </a:r>
            <a:r>
              <a:rPr sz="1100" u="none" dirty="0">
                <a:solidFill>
                  <a:srgbClr val="475569"/>
                </a:solidFill>
                <a:latin typeface="Plus Jakarta Sans"/>
              </a:rPr>
              <a:t>, </a:t>
            </a:r>
            <a:r>
              <a:rPr sz="1100" u="none" dirty="0" err="1">
                <a:solidFill>
                  <a:srgbClr val="475569"/>
                </a:solidFill>
                <a:latin typeface="Plus Jakarta Sans"/>
              </a:rPr>
              <a:t>garantizando</a:t>
            </a:r>
            <a:r>
              <a:rPr sz="1100" u="none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1100" u="none" dirty="0" err="1">
                <a:solidFill>
                  <a:srgbClr val="475569"/>
                </a:solidFill>
                <a:latin typeface="Plus Jakarta Sans"/>
              </a:rPr>
              <a:t>disponibilidad</a:t>
            </a:r>
            <a:r>
              <a:rPr sz="1100" u="none" dirty="0">
                <a:solidFill>
                  <a:srgbClr val="475569"/>
                </a:solidFill>
                <a:latin typeface="Plus Jakarta Sans"/>
              </a:rPr>
              <a:t> y </a:t>
            </a:r>
            <a:r>
              <a:rPr sz="1100" u="none" dirty="0" err="1">
                <a:solidFill>
                  <a:srgbClr val="475569"/>
                </a:solidFill>
                <a:latin typeface="Plus Jakarta Sans"/>
              </a:rPr>
              <a:t>ajustes</a:t>
            </a:r>
            <a:r>
              <a:rPr sz="1100" u="none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1100" u="none" dirty="0" err="1">
                <a:solidFill>
                  <a:srgbClr val="475569"/>
                </a:solidFill>
                <a:latin typeface="Plus Jakarta Sans"/>
              </a:rPr>
              <a:t>adaptativos</a:t>
            </a:r>
            <a:r>
              <a:rPr sz="1100" u="none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1100" u="none" dirty="0" err="1">
                <a:solidFill>
                  <a:srgbClr val="475569"/>
                </a:solidFill>
                <a:latin typeface="Plus Jakarta Sans"/>
              </a:rPr>
              <a:t>continuos</a:t>
            </a:r>
            <a:r>
              <a:rPr sz="1100" u="none" dirty="0">
                <a:solidFill>
                  <a:srgbClr val="475569"/>
                </a:solidFill>
                <a:latin typeface="Plus Jakarta San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0596805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/>
          <p:cNvSpPr/>
          <p:nvPr/>
        </p:nvSpPr>
        <p:spPr>
          <a:xfrm>
            <a:off x="0" y="0"/>
            <a:ext cx="12192000" cy="503434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PROYECTO FINAL</a:t>
            </a:r>
            <a:endParaRPr lang="es-VE" sz="2400" dirty="0"/>
          </a:p>
        </p:txBody>
      </p:sp>
      <p:sp>
        <p:nvSpPr>
          <p:cNvPr id="5" name="Rectángulo 4"/>
          <p:cNvSpPr/>
          <p:nvPr/>
        </p:nvSpPr>
        <p:spPr>
          <a:xfrm>
            <a:off x="0" y="503434"/>
            <a:ext cx="12192000" cy="554804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METODOLOGÍA DE DESARROLLO DE SW</a:t>
            </a:r>
            <a:endParaRPr lang="es-VE" sz="2400" dirty="0"/>
          </a:p>
        </p:txBody>
      </p:sp>
      <p:sp>
        <p:nvSpPr>
          <p:cNvPr id="7" name="Rounded Rectangle 3"/>
          <p:cNvSpPr/>
          <p:nvPr/>
        </p:nvSpPr>
        <p:spPr>
          <a:xfrm>
            <a:off x="457200" y="3882330"/>
            <a:ext cx="5367867" cy="397570"/>
          </a:xfrm>
          <a:prstGeom prst="roundRect">
            <a:avLst>
              <a:gd name="adj" fmla="val 19047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4"/>
          <p:cNvSpPr/>
          <p:nvPr/>
        </p:nvSpPr>
        <p:spPr>
          <a:xfrm>
            <a:off x="457200" y="4396680"/>
            <a:ext cx="5367867" cy="397570"/>
          </a:xfrm>
          <a:prstGeom prst="roundRect">
            <a:avLst>
              <a:gd name="adj" fmla="val 19047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5"/>
          <p:cNvSpPr/>
          <p:nvPr/>
        </p:nvSpPr>
        <p:spPr>
          <a:xfrm>
            <a:off x="457200" y="4911030"/>
            <a:ext cx="5367867" cy="397570"/>
          </a:xfrm>
          <a:prstGeom prst="roundRect">
            <a:avLst>
              <a:gd name="adj" fmla="val 19047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9"/>
          <p:cNvSpPr/>
          <p:nvPr/>
        </p:nvSpPr>
        <p:spPr>
          <a:xfrm>
            <a:off x="457199" y="3882330"/>
            <a:ext cx="45719" cy="39757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0"/>
          <p:cNvSpPr/>
          <p:nvPr/>
        </p:nvSpPr>
        <p:spPr>
          <a:xfrm>
            <a:off x="457199" y="4396680"/>
            <a:ext cx="45719" cy="39757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1"/>
          <p:cNvSpPr/>
          <p:nvPr/>
        </p:nvSpPr>
        <p:spPr>
          <a:xfrm>
            <a:off x="457199" y="4911030"/>
            <a:ext cx="45719" cy="39757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700" y="4006155"/>
            <a:ext cx="170387" cy="151455"/>
          </a:xfrm>
          <a:prstGeom prst="rect">
            <a:avLst/>
          </a:prstGeom>
        </p:spPr>
      </p:pic>
      <p:pic>
        <p:nvPicPr>
          <p:cNvPr id="18" name="Picture 1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700" y="4520505"/>
            <a:ext cx="170387" cy="151455"/>
          </a:xfrm>
          <a:prstGeom prst="rect">
            <a:avLst/>
          </a:prstGeom>
        </p:spPr>
      </p:pic>
      <p:pic>
        <p:nvPicPr>
          <p:cNvPr id="19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700" y="5034855"/>
            <a:ext cx="151455" cy="151455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57200" y="2615505"/>
            <a:ext cx="7250906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Plus Jakarta Sans"/>
              </a:rPr>
              <a:t>Justificación de Kanban (ClickUp)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006030"/>
            <a:ext cx="5460416" cy="6924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125" b="0" i="0" u="none">
                <a:solidFill>
                  <a:srgbClr val="475569"/>
                </a:solidFill>
                <a:latin typeface="Plus Jakarta Sans"/>
              </a:rPr>
              <a:t>Seleccioné Kanban por su flexibilidad visual para gestionar el flujo de trabajo individual continuo, priorizando la limitación de trabajo en progreso (WIP) y asegurando entregables sostenibles.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933450" y="3996630"/>
            <a:ext cx="2811188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1E293B"/>
                </a:solidFill>
                <a:latin typeface="Plus Jakarta Sans"/>
              </a:rPr>
              <a:t>Visibilidad Clara de Tareas por Estado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933451" y="4510980"/>
            <a:ext cx="34127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1E293B"/>
                </a:solidFill>
                <a:latin typeface="Plus Jakarta Sans"/>
              </a:rPr>
              <a:t>Mitigación del Riesgo R09 (Control de Carga)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914401" y="5025330"/>
            <a:ext cx="3748252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1E293B"/>
                </a:solidFill>
                <a:latin typeface="Plus Jakarta Sans"/>
              </a:rPr>
              <a:t>Alineación con Sprints Semanales de Entregables</a:t>
            </a:r>
          </a:p>
        </p:txBody>
      </p:sp>
      <p:pic>
        <p:nvPicPr>
          <p:cNvPr id="2" name="Imagen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2525855"/>
            <a:ext cx="5525193" cy="2782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59135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/>
          <p:cNvSpPr/>
          <p:nvPr/>
        </p:nvSpPr>
        <p:spPr>
          <a:xfrm>
            <a:off x="0" y="0"/>
            <a:ext cx="12192000" cy="503434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PROYECTO FINAL</a:t>
            </a:r>
            <a:endParaRPr lang="es-VE" sz="2400" dirty="0"/>
          </a:p>
        </p:txBody>
      </p:sp>
      <p:sp>
        <p:nvSpPr>
          <p:cNvPr id="5" name="Rectángulo 4"/>
          <p:cNvSpPr/>
          <p:nvPr/>
        </p:nvSpPr>
        <p:spPr>
          <a:xfrm>
            <a:off x="0" y="503434"/>
            <a:ext cx="12192000" cy="554804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PLANIFICACIÓN DEL PROYECTO DE SW</a:t>
            </a:r>
            <a:endParaRPr lang="es-VE" sz="2400" dirty="0"/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800" y="1287675"/>
            <a:ext cx="10058400" cy="5371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86716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/>
          <p:cNvSpPr/>
          <p:nvPr/>
        </p:nvSpPr>
        <p:spPr>
          <a:xfrm>
            <a:off x="0" y="0"/>
            <a:ext cx="12192000" cy="503434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PROYECTO FINAL</a:t>
            </a:r>
            <a:endParaRPr lang="es-VE" sz="2400" dirty="0"/>
          </a:p>
        </p:txBody>
      </p:sp>
      <p:sp>
        <p:nvSpPr>
          <p:cNvPr id="5" name="Rectángulo 4"/>
          <p:cNvSpPr/>
          <p:nvPr/>
        </p:nvSpPr>
        <p:spPr>
          <a:xfrm>
            <a:off x="0" y="503434"/>
            <a:ext cx="12192000" cy="554804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RIESGOS DEL PROYECTO DE SW</a:t>
            </a:r>
            <a:endParaRPr lang="es-VE" sz="2400" dirty="0"/>
          </a:p>
        </p:txBody>
      </p:sp>
      <p:graphicFrame>
        <p:nvGraphicFramePr>
          <p:cNvPr id="6" name="Tabla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3514816"/>
              </p:ext>
            </p:extLst>
          </p:nvPr>
        </p:nvGraphicFramePr>
        <p:xfrm>
          <a:off x="1737360" y="1936866"/>
          <a:ext cx="8603674" cy="3582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58770"/>
                <a:gridCol w="1376073"/>
                <a:gridCol w="4436871"/>
                <a:gridCol w="1015980"/>
                <a:gridCol w="1015980"/>
              </a:tblGrid>
              <a:tr h="657468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 dirty="0">
                          <a:effectLst/>
                        </a:rPr>
                        <a:t>ID</a:t>
                      </a:r>
                      <a:endParaRPr lang="es-VE" sz="1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>
                          <a:effectLst/>
                        </a:rPr>
                        <a:t>Tipo de Riesgo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 dirty="0">
                          <a:effectLst/>
                        </a:rPr>
                        <a:t>Descripción del Riesgo</a:t>
                      </a:r>
                      <a:endParaRPr lang="es-VE" sz="1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>
                          <a:effectLst/>
                        </a:rPr>
                        <a:t>Probabilidad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>
                          <a:effectLst/>
                        </a:rPr>
                        <a:t>Impacto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</a:tr>
              <a:tr h="6574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 b="1">
                          <a:solidFill>
                            <a:srgbClr val="1F1F1F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R01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>
                          <a:solidFill>
                            <a:srgbClr val="1F1F1F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Estimación / Requisitos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>
                          <a:solidFill>
                            <a:srgbClr val="1F1F1F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Carga Administrativa: La necesidad de que el administrador alimente toda la biblioteca de ejercicios manualmente.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>
                          <a:solidFill>
                            <a:srgbClr val="FBBC04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Medio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>
                          <a:solidFill>
                            <a:srgbClr val="FBBC04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Medio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</a:tr>
              <a:tr h="6574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 b="1">
                          <a:solidFill>
                            <a:srgbClr val="1F1F1F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R02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>
                          <a:solidFill>
                            <a:srgbClr val="1F1F1F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Tecnología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>
                          <a:solidFill>
                            <a:srgbClr val="1F1F1F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Lógica de Recomendación: Fallos en el algoritmo que genera las rutinas automáticas de baloncesto.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>
                          <a:solidFill>
                            <a:srgbClr val="EA4335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Alta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>
                          <a:solidFill>
                            <a:srgbClr val="EA4335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Alto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</a:tr>
              <a:tr h="6574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 b="1">
                          <a:solidFill>
                            <a:srgbClr val="1F1F1F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R03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>
                          <a:solidFill>
                            <a:srgbClr val="1F1F1F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Tecnología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>
                          <a:solidFill>
                            <a:srgbClr val="1F1F1F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Sincronización Offline: Pérdida de datos de rendimiento del jugador ingresados sin conexión.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>
                          <a:solidFill>
                            <a:srgbClr val="FBBC04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Media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>
                          <a:solidFill>
                            <a:srgbClr val="EA4335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Alto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</a:tr>
              <a:tr h="952912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 b="1">
                          <a:solidFill>
                            <a:srgbClr val="1F1F1F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R04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>
                          <a:solidFill>
                            <a:srgbClr val="1F1F1F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Herramientas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>
                          <a:solidFill>
                            <a:srgbClr val="1F1F1F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Complejidad del Diseño UML: Dificultad para documentar correctamente la relación entre el administrador y el generador de rutinas en los diagramas.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>
                          <a:solidFill>
                            <a:srgbClr val="34A853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Baja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 dirty="0">
                          <a:solidFill>
                            <a:srgbClr val="FBBC04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Medio</a:t>
                      </a:r>
                      <a:endParaRPr lang="es-VE" sz="1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532412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/>
          <p:cNvSpPr/>
          <p:nvPr/>
        </p:nvSpPr>
        <p:spPr>
          <a:xfrm>
            <a:off x="0" y="0"/>
            <a:ext cx="12192000" cy="503434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PROYECTO FINAL</a:t>
            </a:r>
            <a:endParaRPr lang="es-VE" sz="2400" dirty="0"/>
          </a:p>
        </p:txBody>
      </p:sp>
      <p:sp>
        <p:nvSpPr>
          <p:cNvPr id="5" name="Rectángulo 4"/>
          <p:cNvSpPr/>
          <p:nvPr/>
        </p:nvSpPr>
        <p:spPr>
          <a:xfrm>
            <a:off x="0" y="503434"/>
            <a:ext cx="12192000" cy="554804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RIESGOS DEL PROYECTO DE SW</a:t>
            </a:r>
            <a:endParaRPr lang="es-VE" sz="2400" dirty="0"/>
          </a:p>
        </p:txBody>
      </p:sp>
      <p:graphicFrame>
        <p:nvGraphicFramePr>
          <p:cNvPr id="9" name="Tabla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0292341"/>
              </p:ext>
            </p:extLst>
          </p:nvPr>
        </p:nvGraphicFramePr>
        <p:xfrm>
          <a:off x="1737360" y="1936866"/>
          <a:ext cx="8603674" cy="3582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58770"/>
                <a:gridCol w="1376073"/>
                <a:gridCol w="4436871"/>
                <a:gridCol w="1015980"/>
                <a:gridCol w="1015980"/>
              </a:tblGrid>
              <a:tr h="657468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 dirty="0">
                          <a:effectLst/>
                        </a:rPr>
                        <a:t>ID</a:t>
                      </a:r>
                      <a:endParaRPr lang="es-VE" sz="1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>
                          <a:effectLst/>
                        </a:rPr>
                        <a:t>Tipo de Riesgo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 dirty="0">
                          <a:effectLst/>
                        </a:rPr>
                        <a:t>Descripción del Riesgo</a:t>
                      </a:r>
                      <a:endParaRPr lang="es-VE" sz="1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>
                          <a:effectLst/>
                        </a:rPr>
                        <a:t>Probabilidad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>
                          <a:effectLst/>
                        </a:rPr>
                        <a:t>Impacto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</a:tr>
              <a:tr h="6574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 b="1">
                          <a:solidFill>
                            <a:srgbClr val="1F1F1F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R05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>
                          <a:solidFill>
                            <a:srgbClr val="1F1F1F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Tecnología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>
                          <a:solidFill>
                            <a:srgbClr val="1F1F1F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Fragilidad del modo offline: Que la sincronización de datos genere errores o duplicados al pasar de SQLite al sistema online.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>
                          <a:solidFill>
                            <a:srgbClr val="FBBC04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Medio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>
                          <a:solidFill>
                            <a:srgbClr val="EA4335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Alto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</a:tr>
              <a:tr h="6574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 b="1">
                          <a:solidFill>
                            <a:srgbClr val="1F1F1F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R06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>
                          <a:solidFill>
                            <a:srgbClr val="1F1F1F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Tecnología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>
                          <a:solidFill>
                            <a:srgbClr val="1F1F1F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Mismatch en recomendaciones: Que el algoritmo sugiere rutinas de intensidades erróneas que no correspondan a la posición o nivel actual del usuario.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>
                          <a:solidFill>
                            <a:srgbClr val="FBBC04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Medio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>
                          <a:solidFill>
                            <a:srgbClr val="EA4335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Alto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</a:tr>
              <a:tr h="6574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 b="1">
                          <a:solidFill>
                            <a:srgbClr val="1F1F1F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R07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>
                          <a:solidFill>
                            <a:srgbClr val="1F1F1F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Estimación / Requisitos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>
                          <a:solidFill>
                            <a:srgbClr val="1F1F1F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Curva de Aprendizaje Tecnológica: Retrasos debido al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>
                          <a:solidFill>
                            <a:srgbClr val="1F1F1F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dominio de nuevas tecnologías necesarias para el proyecto.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>
                          <a:solidFill>
                            <a:srgbClr val="EA4335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Alto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>
                          <a:solidFill>
                            <a:srgbClr val="EA4335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Alto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</a:tr>
              <a:tr h="952912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 b="1">
                          <a:solidFill>
                            <a:srgbClr val="1F1F1F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R08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>
                          <a:solidFill>
                            <a:srgbClr val="1F1F1F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Personas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>
                          <a:solidFill>
                            <a:srgbClr val="1F1F1F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Cuello de botella: Paralización del desarrollo si un miembro del equipo se estanca en una tarea de la que depende el resto del software.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>
                          <a:solidFill>
                            <a:srgbClr val="EA4335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Alto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 dirty="0">
                          <a:solidFill>
                            <a:srgbClr val="EA4335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Alto</a:t>
                      </a:r>
                      <a:endParaRPr lang="es-VE" sz="1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675053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/>
          <p:cNvSpPr/>
          <p:nvPr/>
        </p:nvSpPr>
        <p:spPr>
          <a:xfrm>
            <a:off x="0" y="0"/>
            <a:ext cx="12192000" cy="503434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PROYECTO FINAL</a:t>
            </a:r>
            <a:endParaRPr lang="es-VE" sz="2400" dirty="0"/>
          </a:p>
        </p:txBody>
      </p:sp>
      <p:sp>
        <p:nvSpPr>
          <p:cNvPr id="5" name="Rectángulo 4"/>
          <p:cNvSpPr/>
          <p:nvPr/>
        </p:nvSpPr>
        <p:spPr>
          <a:xfrm>
            <a:off x="0" y="503434"/>
            <a:ext cx="12192000" cy="554804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RIESGOS DEL PROYECTO DE SW</a:t>
            </a:r>
            <a:endParaRPr lang="es-VE" sz="2400" dirty="0"/>
          </a:p>
        </p:txBody>
      </p:sp>
      <p:graphicFrame>
        <p:nvGraphicFramePr>
          <p:cNvPr id="6" name="Tabla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2561687"/>
              </p:ext>
            </p:extLst>
          </p:nvPr>
        </p:nvGraphicFramePr>
        <p:xfrm>
          <a:off x="1737360" y="1936866"/>
          <a:ext cx="8603674" cy="3582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58770"/>
                <a:gridCol w="1376073"/>
                <a:gridCol w="4436871"/>
                <a:gridCol w="1015980"/>
                <a:gridCol w="1015980"/>
              </a:tblGrid>
              <a:tr h="657468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 dirty="0">
                          <a:effectLst/>
                        </a:rPr>
                        <a:t>ID</a:t>
                      </a:r>
                      <a:endParaRPr lang="es-VE" sz="1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>
                          <a:effectLst/>
                        </a:rPr>
                        <a:t>Tipo de Riesgo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 dirty="0">
                          <a:effectLst/>
                        </a:rPr>
                        <a:t>Descripción del Riesgo</a:t>
                      </a:r>
                      <a:endParaRPr lang="es-VE" sz="1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>
                          <a:effectLst/>
                        </a:rPr>
                        <a:t>Probabilidad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>
                          <a:effectLst/>
                        </a:rPr>
                        <a:t>Impacto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</a:tr>
              <a:tr h="6574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 b="1">
                          <a:solidFill>
                            <a:srgbClr val="1F1F1F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R09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>
                          <a:solidFill>
                            <a:srgbClr val="1F1F1F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Personas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>
                          <a:solidFill>
                            <a:srgbClr val="1F1F1F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Fatiga por Multitarea: Al ser un equipo de solo dos miembros, ambos deben saltar constantemente entre Frontend, Backend y Documentación, reduciendo la productividad.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>
                          <a:solidFill>
                            <a:srgbClr val="EA4335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Alto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>
                          <a:solidFill>
                            <a:srgbClr val="EA4335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Alto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</a:tr>
              <a:tr h="6574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 b="1">
                          <a:solidFill>
                            <a:srgbClr val="1F1F1F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R10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>
                          <a:solidFill>
                            <a:srgbClr val="1F1F1F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Entorno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>
                          <a:solidFill>
                            <a:srgbClr val="1F1F1F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Fluctuaciones del Servicio Eléctrico: Cortes de energía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>
                          <a:solidFill>
                            <a:srgbClr val="1F1F1F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inesperados durante las sesiones de programación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>
                          <a:solidFill>
                            <a:srgbClr val="EA4335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Alto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>
                          <a:solidFill>
                            <a:srgbClr val="FBBC04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Medio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</a:tr>
              <a:tr h="6574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 b="1">
                          <a:solidFill>
                            <a:srgbClr val="1F1F1F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R11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>
                          <a:solidFill>
                            <a:srgbClr val="1F1F1F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Tecnología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>
                          <a:solidFill>
                            <a:srgbClr val="1F1F1F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Fallas o alta latencia en los proveedores de internet en Venezuela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>
                          <a:solidFill>
                            <a:srgbClr val="FBBC04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Medio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>
                          <a:solidFill>
                            <a:srgbClr val="34A853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Baja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</a:tr>
              <a:tr h="952912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 b="1">
                          <a:solidFill>
                            <a:srgbClr val="1F1F1F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R12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>
                          <a:solidFill>
                            <a:srgbClr val="1F1F1F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Requisitos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>
                          <a:solidFill>
                            <a:srgbClr val="1F1F1F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Corrupción del Alcance (Scope Creep): Tendencia a querer añadir más funcionalidades más allá del baloncesto, retrasando el cronograma.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>
                          <a:solidFill>
                            <a:srgbClr val="FBBC04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Medio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 dirty="0">
                          <a:solidFill>
                            <a:srgbClr val="EA4335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Alto</a:t>
                      </a:r>
                      <a:endParaRPr lang="es-VE" sz="1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354793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/>
          <p:cNvSpPr/>
          <p:nvPr/>
        </p:nvSpPr>
        <p:spPr>
          <a:xfrm>
            <a:off x="0" y="0"/>
            <a:ext cx="12192000" cy="503434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PROYECTO FINAL</a:t>
            </a:r>
            <a:endParaRPr lang="es-VE" sz="2400" dirty="0"/>
          </a:p>
        </p:txBody>
      </p:sp>
      <p:sp>
        <p:nvSpPr>
          <p:cNvPr id="5" name="Rectángulo 4"/>
          <p:cNvSpPr/>
          <p:nvPr/>
        </p:nvSpPr>
        <p:spPr>
          <a:xfrm>
            <a:off x="0" y="503434"/>
            <a:ext cx="12192000" cy="554804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RIESGOS DEL PROYECTO DE SW</a:t>
            </a:r>
            <a:endParaRPr lang="es-VE" sz="2400" dirty="0"/>
          </a:p>
        </p:txBody>
      </p:sp>
      <p:graphicFrame>
        <p:nvGraphicFramePr>
          <p:cNvPr id="3" name="Tabla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6605461"/>
              </p:ext>
            </p:extLst>
          </p:nvPr>
        </p:nvGraphicFramePr>
        <p:xfrm>
          <a:off x="1936865" y="1662544"/>
          <a:ext cx="7847215" cy="436418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21900"/>
                <a:gridCol w="5325315"/>
              </a:tblGrid>
              <a:tr h="322588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 dirty="0">
                          <a:effectLst/>
                        </a:rPr>
                        <a:t>Riesgos Detectado</a:t>
                      </a:r>
                      <a:endParaRPr lang="es-VE" sz="1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>
                          <a:effectLst/>
                        </a:rPr>
                        <a:t>Estrategia de Mitigación / Contingencia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</a:tr>
              <a:tr h="58584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 b="1">
                          <a:solidFill>
                            <a:srgbClr val="1F1F1F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R01: </a:t>
                      </a:r>
                      <a:r>
                        <a:rPr lang="es-VE" sz="1000">
                          <a:solidFill>
                            <a:srgbClr val="1F1F1F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Carga Administrativa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>
                          <a:solidFill>
                            <a:srgbClr val="1F1F1F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Implementar una función de carga masiva de ejercicios en el módulo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>
                          <a:solidFill>
                            <a:srgbClr val="1F1F1F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de administración utilizando archivos estructurados.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</a:tr>
              <a:tr h="58584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 b="1">
                          <a:solidFill>
                            <a:srgbClr val="1F1F1F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R02: </a:t>
                      </a:r>
                      <a:r>
                        <a:rPr lang="es-VE" sz="1000">
                          <a:solidFill>
                            <a:srgbClr val="1F1F1F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Lógica de Recomendación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>
                          <a:solidFill>
                            <a:srgbClr val="1F1F1F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Realizar pruebas funcionales y de caja negra exhaustivas simulando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>
                          <a:solidFill>
                            <a:srgbClr val="1F1F1F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diferentes perfiles de usuario (ej. Base principiante vs. Pívot avanzado).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</a:tr>
              <a:tr h="58584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 b="1">
                          <a:solidFill>
                            <a:srgbClr val="1F1F1F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R03: </a:t>
                      </a:r>
                      <a:r>
                        <a:rPr lang="es-VE" sz="1000">
                          <a:solidFill>
                            <a:srgbClr val="1F1F1F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Sincronización Offline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>
                          <a:solidFill>
                            <a:srgbClr val="1F1F1F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Utilizar una base de datos local (SQLite) con protocolos estrictos de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>
                          <a:solidFill>
                            <a:srgbClr val="1F1F1F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sincronización basados en marcas de tiempo (timestamps).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</a:tr>
              <a:tr h="849105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 b="1">
                          <a:solidFill>
                            <a:srgbClr val="1F1F1F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R04: </a:t>
                      </a:r>
                      <a:r>
                        <a:rPr lang="es-VE" sz="1000">
                          <a:solidFill>
                            <a:srgbClr val="1F1F1F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Complejidad del Diseño UML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>
                          <a:solidFill>
                            <a:srgbClr val="1F1F1F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Priorizar y refinar el diagrama de clases para definir con precisión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>
                          <a:solidFill>
                            <a:srgbClr val="1F1F1F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matemática cómo el sistema consume la biblioteca gestionada por el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>
                          <a:solidFill>
                            <a:srgbClr val="1F1F1F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admin.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</a:tr>
              <a:tr h="849105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 b="1">
                          <a:solidFill>
                            <a:srgbClr val="1F1F1F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R05: </a:t>
                      </a:r>
                      <a:r>
                        <a:rPr lang="es-VE" sz="1000">
                          <a:solidFill>
                            <a:srgbClr val="1F1F1F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Fragilidad del modo offline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>
                          <a:solidFill>
                            <a:srgbClr val="1F1F1F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Implementar un sistema de identificadores únicos universales (UUIDs)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>
                          <a:solidFill>
                            <a:srgbClr val="1F1F1F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para los registros de las rutinas locales en lugar de IDs incrementales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>
                          <a:solidFill>
                            <a:srgbClr val="1F1F1F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estándar.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</a:tr>
              <a:tr h="58584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 b="1">
                          <a:solidFill>
                            <a:srgbClr val="1F1F1F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R06: </a:t>
                      </a:r>
                      <a:r>
                        <a:rPr lang="es-VE" sz="1000">
                          <a:solidFill>
                            <a:srgbClr val="1F1F1F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Mismatch en recomendaciones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 dirty="0">
                          <a:solidFill>
                            <a:srgbClr val="1F1F1F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Establecer límites y reglas de negocio estrictas en el código fuente para</a:t>
                      </a:r>
                      <a:endParaRPr lang="es-VE" sz="1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 dirty="0">
                          <a:solidFill>
                            <a:srgbClr val="1F1F1F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que las sugerencias de ejercicios no sobrepasen el nivel del jugador.</a:t>
                      </a:r>
                      <a:endParaRPr lang="es-VE" sz="1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33769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/>
          <p:cNvSpPr/>
          <p:nvPr/>
        </p:nvSpPr>
        <p:spPr>
          <a:xfrm>
            <a:off x="0" y="0"/>
            <a:ext cx="12192000" cy="503434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PROYECTO FINAL</a:t>
            </a:r>
            <a:endParaRPr lang="es-VE" sz="2400" dirty="0"/>
          </a:p>
        </p:txBody>
      </p:sp>
      <p:sp>
        <p:nvSpPr>
          <p:cNvPr id="5" name="Rectángulo 4"/>
          <p:cNvSpPr/>
          <p:nvPr/>
        </p:nvSpPr>
        <p:spPr>
          <a:xfrm>
            <a:off x="0" y="503434"/>
            <a:ext cx="12192000" cy="554804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RIESGOS DEL PROYECTO DE SW</a:t>
            </a:r>
            <a:endParaRPr lang="es-VE" sz="2400" dirty="0"/>
          </a:p>
        </p:txBody>
      </p:sp>
      <p:graphicFrame>
        <p:nvGraphicFramePr>
          <p:cNvPr id="6" name="Tabla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8928142"/>
              </p:ext>
            </p:extLst>
          </p:nvPr>
        </p:nvGraphicFramePr>
        <p:xfrm>
          <a:off x="1936865" y="1662544"/>
          <a:ext cx="7847215" cy="436418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21900"/>
                <a:gridCol w="5325315"/>
              </a:tblGrid>
              <a:tr h="322588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 dirty="0">
                          <a:effectLst/>
                        </a:rPr>
                        <a:t>Riesgos Detectado</a:t>
                      </a:r>
                      <a:endParaRPr lang="es-VE" sz="1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>
                          <a:effectLst/>
                        </a:rPr>
                        <a:t>Estrategia de Mitigación / Contingencia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</a:tr>
              <a:tr h="58584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 b="1">
                          <a:solidFill>
                            <a:srgbClr val="1F1F1F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R07: </a:t>
                      </a:r>
                      <a:r>
                        <a:rPr lang="es-VE" sz="1000">
                          <a:solidFill>
                            <a:srgbClr val="1F1F1F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Curva de Aprendizaje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>
                          <a:solidFill>
                            <a:srgbClr val="1F1F1F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Minimizar el uso de librerías desconocidas y, como plan de contingencia,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>
                          <a:solidFill>
                            <a:srgbClr val="1F1F1F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simplificar el alcance de la IA a una versión heurística funcional básica.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</a:tr>
              <a:tr h="58584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 b="1">
                          <a:solidFill>
                            <a:srgbClr val="1F1F1F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R08: </a:t>
                      </a:r>
                      <a:r>
                        <a:rPr lang="es-VE" sz="1000">
                          <a:solidFill>
                            <a:srgbClr val="1F1F1F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Cuello de botella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>
                          <a:solidFill>
                            <a:srgbClr val="1F1F1F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Implementar prácticas de Pair Programming (programación en pareja)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>
                          <a:solidFill>
                            <a:srgbClr val="1F1F1F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en los módulos más críticos del núcleo del sistema (como el Generador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>
                          <a:solidFill>
                            <a:srgbClr val="1F1F1F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de Rutinas).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</a:tr>
              <a:tr h="58584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 b="1">
                          <a:solidFill>
                            <a:srgbClr val="1F1F1F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R09: </a:t>
                      </a:r>
                      <a:r>
                        <a:rPr lang="es-VE" sz="1000">
                          <a:solidFill>
                            <a:srgbClr val="1F1F1F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Fatiga por Multitarea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>
                          <a:solidFill>
                            <a:srgbClr val="1F1F1F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Segmentar y dividir el trabajo en ClickUp por sprints semanales cerrados,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>
                          <a:solidFill>
                            <a:srgbClr val="1F1F1F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permitiendo que cada integrante se enfoque en un componente a la vez.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</a:tr>
              <a:tr h="849105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 b="1">
                          <a:solidFill>
                            <a:srgbClr val="1F1F1F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R10: </a:t>
                      </a:r>
                      <a:r>
                        <a:rPr lang="es-VE" sz="1000">
                          <a:solidFill>
                            <a:srgbClr val="1F1F1F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Fluctuaciones Eléctricas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>
                          <a:solidFill>
                            <a:srgbClr val="1F1F1F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Aplicar el patrón de arquitectura Offline-First, dar tiempos generosos a las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>
                          <a:solidFill>
                            <a:srgbClr val="1F1F1F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tareas para tomar en cuenta percances debido a cortes eléctricos.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</a:tr>
              <a:tr h="849105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 b="1">
                          <a:solidFill>
                            <a:srgbClr val="1F1F1F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R11: </a:t>
                      </a:r>
                      <a:r>
                        <a:rPr lang="es-VE" sz="1000">
                          <a:solidFill>
                            <a:srgbClr val="1F1F1F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Inestabilidad de Conectividad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>
                          <a:solidFill>
                            <a:srgbClr val="1F1F1F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Implementar un sistema asíncrono donde solo se subirán los datos cuando detecte una red estable.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</a:tr>
              <a:tr h="58584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 b="1">
                          <a:solidFill>
                            <a:srgbClr val="1F1F1F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R12: </a:t>
                      </a:r>
                      <a:r>
                        <a:rPr lang="es-VE" sz="1000">
                          <a:solidFill>
                            <a:srgbClr val="1F1F1F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Corrupción del Alcance</a:t>
                      </a:r>
                      <a:endParaRPr lang="es-VE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 dirty="0">
                          <a:solidFill>
                            <a:srgbClr val="1F1F1F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Aplicar estricto control de cambios, "congelando" los requerimientos</a:t>
                      </a:r>
                      <a:endParaRPr lang="es-VE" sz="1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 dirty="0">
                          <a:solidFill>
                            <a:srgbClr val="1F1F1F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funcionales actuales y documentando nuevas ideas solo para versiones</a:t>
                      </a:r>
                      <a:endParaRPr lang="es-VE" sz="1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VE" sz="1000" dirty="0">
                          <a:solidFill>
                            <a:srgbClr val="1F1F1F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futuras.</a:t>
                      </a:r>
                      <a:endParaRPr lang="es-VE" sz="1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25400" marB="25400"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297989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/>
          <p:cNvSpPr/>
          <p:nvPr/>
        </p:nvSpPr>
        <p:spPr>
          <a:xfrm>
            <a:off x="0" y="0"/>
            <a:ext cx="12192000" cy="503434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PROYECTO FINAL</a:t>
            </a:r>
            <a:endParaRPr lang="es-VE" sz="2400" dirty="0"/>
          </a:p>
        </p:txBody>
      </p:sp>
      <p:sp>
        <p:nvSpPr>
          <p:cNvPr id="3" name="Rectángulo 2"/>
          <p:cNvSpPr/>
          <p:nvPr/>
        </p:nvSpPr>
        <p:spPr>
          <a:xfrm>
            <a:off x="0" y="503434"/>
            <a:ext cx="12192000" cy="554804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TECNOLOGÍAS Y HERRAMIENTAS DE DESARROLLO</a:t>
            </a:r>
            <a:endParaRPr lang="es-VE" sz="2400" dirty="0"/>
          </a:p>
        </p:txBody>
      </p:sp>
      <p:sp>
        <p:nvSpPr>
          <p:cNvPr id="5" name="Rounded Rectangle 2"/>
          <p:cNvSpPr/>
          <p:nvPr/>
        </p:nvSpPr>
        <p:spPr>
          <a:xfrm>
            <a:off x="457200" y="1698724"/>
            <a:ext cx="3632150" cy="1762125"/>
          </a:xfrm>
          <a:prstGeom prst="roundRect">
            <a:avLst>
              <a:gd name="adj" fmla="val 6486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ounded Rectangle 3"/>
          <p:cNvSpPr/>
          <p:nvPr/>
        </p:nvSpPr>
        <p:spPr>
          <a:xfrm>
            <a:off x="4279850" y="1698724"/>
            <a:ext cx="3632150" cy="1762125"/>
          </a:xfrm>
          <a:prstGeom prst="roundRect">
            <a:avLst>
              <a:gd name="adj" fmla="val 6486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ounded Rectangle 4"/>
          <p:cNvSpPr/>
          <p:nvPr/>
        </p:nvSpPr>
        <p:spPr>
          <a:xfrm>
            <a:off x="8102500" y="1698724"/>
            <a:ext cx="3632299" cy="1762125"/>
          </a:xfrm>
          <a:prstGeom prst="roundRect">
            <a:avLst>
              <a:gd name="adj" fmla="val 6486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ounded Rectangle 5"/>
          <p:cNvSpPr/>
          <p:nvPr/>
        </p:nvSpPr>
        <p:spPr>
          <a:xfrm>
            <a:off x="457200" y="4465736"/>
            <a:ext cx="3632150" cy="1762125"/>
          </a:xfrm>
          <a:prstGeom prst="roundRect">
            <a:avLst>
              <a:gd name="adj" fmla="val 6486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Rounded Rectangle 6"/>
          <p:cNvSpPr/>
          <p:nvPr/>
        </p:nvSpPr>
        <p:spPr>
          <a:xfrm>
            <a:off x="4279850" y="4465736"/>
            <a:ext cx="3632150" cy="1762125"/>
          </a:xfrm>
          <a:prstGeom prst="roundRect">
            <a:avLst>
              <a:gd name="adj" fmla="val 6486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Rounded Rectangle 7"/>
          <p:cNvSpPr/>
          <p:nvPr/>
        </p:nvSpPr>
        <p:spPr>
          <a:xfrm>
            <a:off x="8102500" y="4465736"/>
            <a:ext cx="3632299" cy="1762125"/>
          </a:xfrm>
          <a:prstGeom prst="roundRect">
            <a:avLst>
              <a:gd name="adj" fmla="val 6486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1" name="Picture 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3175" y="1974949"/>
            <a:ext cx="400050" cy="457200"/>
          </a:xfrm>
          <a:prstGeom prst="rect">
            <a:avLst/>
          </a:prstGeom>
        </p:spPr>
      </p:pic>
      <p:pic>
        <p:nvPicPr>
          <p:cNvPr id="12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7251" y="1974949"/>
            <a:ext cx="457200" cy="457200"/>
          </a:xfrm>
          <a:prstGeom prst="rect">
            <a:avLst/>
          </a:prstGeom>
        </p:spPr>
      </p:pic>
      <p:pic>
        <p:nvPicPr>
          <p:cNvPr id="13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18625" y="1974949"/>
            <a:ext cx="400050" cy="457200"/>
          </a:xfrm>
          <a:prstGeom prst="rect">
            <a:avLst/>
          </a:prstGeom>
        </p:spPr>
      </p:pic>
      <p:pic>
        <p:nvPicPr>
          <p:cNvPr id="14" name="Picture 1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87450" y="4741961"/>
            <a:ext cx="571500" cy="457200"/>
          </a:xfrm>
          <a:prstGeom prst="rect">
            <a:avLst/>
          </a:prstGeom>
        </p:spPr>
      </p:pic>
      <p:pic>
        <p:nvPicPr>
          <p:cNvPr id="15" name="Picture 1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94896" y="4736619"/>
            <a:ext cx="514350" cy="457200"/>
          </a:xfrm>
          <a:prstGeom prst="rect">
            <a:avLst/>
          </a:prstGeom>
        </p:spPr>
      </p:pic>
      <p:pic>
        <p:nvPicPr>
          <p:cNvPr id="16" name="Picture 13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90050" y="4741961"/>
            <a:ext cx="457200" cy="457200"/>
          </a:xfrm>
          <a:prstGeom prst="rect">
            <a:avLst/>
          </a:prstGeom>
        </p:spPr>
      </p:pic>
      <p:sp>
        <p:nvSpPr>
          <p:cNvPr id="17" name="TextBox 18"/>
          <p:cNvSpPr txBox="1"/>
          <p:nvPr/>
        </p:nvSpPr>
        <p:spPr>
          <a:xfrm>
            <a:off x="673887" y="2860871"/>
            <a:ext cx="3198626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 u="none" dirty="0" err="1">
                <a:latin typeface="Arial" panose="020B0604020202020204" pitchFamily="34" charset="0"/>
                <a:cs typeface="Arial" panose="020B0604020202020204" pitchFamily="34" charset="0"/>
              </a:rPr>
              <a:t>Lenguaje</a:t>
            </a:r>
            <a:r>
              <a:rPr sz="1000" b="0" i="0" u="none" dirty="0">
                <a:latin typeface="Arial" panose="020B0604020202020204" pitchFamily="34" charset="0"/>
                <a:cs typeface="Arial" panose="020B0604020202020204" pitchFamily="34" charset="0"/>
              </a:rPr>
              <a:t> principal para </a:t>
            </a:r>
            <a:r>
              <a:rPr sz="1000" b="0" i="0" u="none" dirty="0" err="1">
                <a:latin typeface="Arial" panose="020B0604020202020204" pitchFamily="34" charset="0"/>
                <a:cs typeface="Arial" panose="020B0604020202020204" pitchFamily="34" charset="0"/>
              </a:rPr>
              <a:t>lógica</a:t>
            </a:r>
            <a:r>
              <a:rPr sz="1000" b="0" i="0" u="none" dirty="0">
                <a:latin typeface="Arial" panose="020B0604020202020204" pitchFamily="34" charset="0"/>
                <a:cs typeface="Arial" panose="020B0604020202020204" pitchFamily="34" charset="0"/>
              </a:rPr>
              <a:t> POO del backend y </a:t>
            </a:r>
            <a:r>
              <a:rPr sz="1000" b="0" i="0" u="none" dirty="0" err="1">
                <a:latin typeface="Arial" panose="020B0604020202020204" pitchFamily="34" charset="0"/>
                <a:cs typeface="Arial" panose="020B0604020202020204" pitchFamily="34" charset="0"/>
              </a:rPr>
              <a:t>orquestación</a:t>
            </a:r>
            <a:r>
              <a:rPr sz="1000" b="0" i="0" u="none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sz="1000" b="0" i="0" u="none" dirty="0" err="1">
                <a:latin typeface="Arial" panose="020B0604020202020204" pitchFamily="34" charset="0"/>
                <a:cs typeface="Arial" panose="020B0604020202020204" pitchFamily="34" charset="0"/>
              </a:rPr>
              <a:t>servicios</a:t>
            </a:r>
            <a:r>
              <a:rPr sz="1000" b="0" i="0" u="none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18" name="TextBox 19"/>
          <p:cNvSpPr txBox="1"/>
          <p:nvPr/>
        </p:nvSpPr>
        <p:spPr>
          <a:xfrm>
            <a:off x="5807384" y="2584549"/>
            <a:ext cx="577081" cy="15388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000" b="1" i="0" u="none" dirty="0" err="1">
                <a:solidFill>
                  <a:srgbClr val="1E29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Flet</a:t>
            </a:r>
            <a:r>
              <a:rPr sz="1000" b="1" i="0" u="none" dirty="0">
                <a:solidFill>
                  <a:srgbClr val="1E29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(GUI)</a:t>
            </a:r>
          </a:p>
        </p:txBody>
      </p:sp>
      <p:sp>
        <p:nvSpPr>
          <p:cNvPr id="19" name="TextBox 20"/>
          <p:cNvSpPr txBox="1"/>
          <p:nvPr/>
        </p:nvSpPr>
        <p:spPr>
          <a:xfrm>
            <a:off x="4398545" y="2872804"/>
            <a:ext cx="3202277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 u="none" dirty="0">
                <a:latin typeface="Arial" panose="020B0604020202020204" pitchFamily="34" charset="0"/>
                <a:cs typeface="Arial" panose="020B0604020202020204" pitchFamily="34" charset="0"/>
              </a:rPr>
              <a:t>Framework </a:t>
            </a:r>
            <a:r>
              <a:rPr sz="1000" b="0" i="0" u="none" dirty="0" err="1">
                <a:latin typeface="Arial" panose="020B0604020202020204" pitchFamily="34" charset="0"/>
                <a:cs typeface="Arial" panose="020B0604020202020204" pitchFamily="34" charset="0"/>
              </a:rPr>
              <a:t>moderno</a:t>
            </a:r>
            <a:r>
              <a:rPr sz="1000" b="0" i="0" u="none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000" b="0" i="0" u="none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sz="1000" b="0" i="0" u="none" dirty="0">
                <a:latin typeface="Arial" panose="020B0604020202020204" pitchFamily="34" charset="0"/>
                <a:cs typeface="Arial" panose="020B0604020202020204" pitchFamily="34" charset="0"/>
              </a:rPr>
              <a:t> Python para </a:t>
            </a:r>
            <a:r>
              <a:rPr sz="1000" b="0" i="0" u="none" dirty="0" err="1">
                <a:latin typeface="Arial" panose="020B0604020202020204" pitchFamily="34" charset="0"/>
                <a:cs typeface="Arial" panose="020B0604020202020204" pitchFamily="34" charset="0"/>
              </a:rPr>
              <a:t>desarrollo</a:t>
            </a:r>
            <a:r>
              <a:rPr sz="1000" b="0" i="0" u="none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sz="1000" b="0" i="0" u="none" dirty="0" err="1">
                <a:latin typeface="Arial" panose="020B0604020202020204" pitchFamily="34" charset="0"/>
                <a:cs typeface="Arial" panose="020B0604020202020204" pitchFamily="34" charset="0"/>
              </a:rPr>
              <a:t>interfaz</a:t>
            </a:r>
            <a:r>
              <a:rPr sz="1000" b="0" i="0" u="none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000" b="0" i="0" u="none" dirty="0" err="1">
                <a:latin typeface="Arial" panose="020B0604020202020204" pitchFamily="34" charset="0"/>
                <a:cs typeface="Arial" panose="020B0604020202020204" pitchFamily="34" charset="0"/>
              </a:rPr>
              <a:t>rápida</a:t>
            </a:r>
            <a:r>
              <a:rPr sz="1000" b="0" i="0" u="none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sz="1000" b="0" i="0" u="none" dirty="0" err="1">
                <a:latin typeface="Arial" panose="020B0604020202020204" pitchFamily="34" charset="0"/>
                <a:cs typeface="Arial" panose="020B0604020202020204" pitchFamily="34" charset="0"/>
              </a:rPr>
              <a:t>reactiva</a:t>
            </a:r>
            <a:r>
              <a:rPr sz="1000" b="0" i="0" u="none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20" name="TextBox 21"/>
          <p:cNvSpPr txBox="1"/>
          <p:nvPr/>
        </p:nvSpPr>
        <p:spPr>
          <a:xfrm>
            <a:off x="7897499" y="2584549"/>
            <a:ext cx="4042302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350" b="1" i="0" u="none">
                <a:solidFill>
                  <a:srgbClr val="1E293B"/>
                </a:solidFill>
                <a:latin typeface="Plus Jakarta Sans"/>
              </a:rPr>
              <a:t>SQLite</a:t>
            </a:r>
          </a:p>
        </p:txBody>
      </p:sp>
      <p:sp>
        <p:nvSpPr>
          <p:cNvPr id="21" name="TextBox 22"/>
          <p:cNvSpPr txBox="1"/>
          <p:nvPr/>
        </p:nvSpPr>
        <p:spPr>
          <a:xfrm>
            <a:off x="8275335" y="2863230"/>
            <a:ext cx="3286627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 u="none" dirty="0">
                <a:latin typeface="Arial" panose="020B0604020202020204" pitchFamily="34" charset="0"/>
                <a:cs typeface="Arial" panose="020B0604020202020204" pitchFamily="34" charset="0"/>
              </a:rPr>
              <a:t>Base de </a:t>
            </a:r>
            <a:r>
              <a:rPr sz="1000" b="0" i="0" u="none" dirty="0" err="1">
                <a:latin typeface="Arial" panose="020B0604020202020204" pitchFamily="34" charset="0"/>
                <a:cs typeface="Arial" panose="020B0604020202020204" pitchFamily="34" charset="0"/>
              </a:rPr>
              <a:t>datos</a:t>
            </a:r>
            <a:r>
              <a:rPr sz="1000" b="0" i="0" u="none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000" b="0" i="0" u="none" dirty="0" err="1">
                <a:latin typeface="Arial" panose="020B0604020202020204" pitchFamily="34" charset="0"/>
                <a:cs typeface="Arial" panose="020B0604020202020204" pitchFamily="34" charset="0"/>
              </a:rPr>
              <a:t>relacional</a:t>
            </a:r>
            <a:r>
              <a:rPr sz="1000" b="0" i="0" u="none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000" b="0" i="0" u="none" dirty="0" err="1">
                <a:latin typeface="Arial" panose="020B0604020202020204" pitchFamily="34" charset="0"/>
                <a:cs typeface="Arial" panose="020B0604020202020204" pitchFamily="34" charset="0"/>
              </a:rPr>
              <a:t>liviana</a:t>
            </a:r>
            <a:r>
              <a:rPr sz="1000" b="0" i="0" u="none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000" b="0" i="0" u="none" dirty="0" err="1">
                <a:latin typeface="Arial" panose="020B0604020202020204" pitchFamily="34" charset="0"/>
                <a:cs typeface="Arial" panose="020B0604020202020204" pitchFamily="34" charset="0"/>
              </a:rPr>
              <a:t>optimizada</a:t>
            </a:r>
            <a:r>
              <a:rPr sz="1000" b="0" i="0" u="none" dirty="0">
                <a:latin typeface="Arial" panose="020B0604020202020204" pitchFamily="34" charset="0"/>
                <a:cs typeface="Arial" panose="020B0604020202020204" pitchFamily="34" charset="0"/>
              </a:rPr>
              <a:t> para </a:t>
            </a:r>
            <a:r>
              <a:rPr sz="1000" b="0" i="0" u="none" dirty="0" err="1">
                <a:latin typeface="Arial" panose="020B0604020202020204" pitchFamily="34" charset="0"/>
                <a:cs typeface="Arial" panose="020B0604020202020204" pitchFamily="34" charset="0"/>
              </a:rPr>
              <a:t>almacenamiento</a:t>
            </a:r>
            <a:r>
              <a:rPr sz="1000" b="0" i="0" u="none" dirty="0">
                <a:latin typeface="Arial" panose="020B0604020202020204" pitchFamily="34" charset="0"/>
                <a:cs typeface="Arial" panose="020B0604020202020204" pitchFamily="34" charset="0"/>
              </a:rPr>
              <a:t> local offline.</a:t>
            </a:r>
          </a:p>
        </p:txBody>
      </p:sp>
      <p:sp>
        <p:nvSpPr>
          <p:cNvPr id="22" name="TextBox 24"/>
          <p:cNvSpPr txBox="1"/>
          <p:nvPr/>
        </p:nvSpPr>
        <p:spPr>
          <a:xfrm>
            <a:off x="563375" y="5646836"/>
            <a:ext cx="3309138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 u="none" dirty="0" err="1">
                <a:latin typeface="Arial" panose="020B0604020202020204" pitchFamily="34" charset="0"/>
                <a:cs typeface="Arial" panose="020B0604020202020204" pitchFamily="34" charset="0"/>
              </a:rPr>
              <a:t>Agente</a:t>
            </a:r>
            <a:r>
              <a:rPr sz="1000" b="0" i="0" u="none" dirty="0">
                <a:latin typeface="Arial" panose="020B0604020202020204" pitchFamily="34" charset="0"/>
                <a:cs typeface="Arial" panose="020B0604020202020204" pitchFamily="34" charset="0"/>
              </a:rPr>
              <a:t> para </a:t>
            </a:r>
            <a:r>
              <a:rPr sz="1000" b="0" i="0" u="none" dirty="0" err="1">
                <a:latin typeface="Arial" panose="020B0604020202020204" pitchFamily="34" charset="0"/>
                <a:cs typeface="Arial" panose="020B0604020202020204" pitchFamily="34" charset="0"/>
              </a:rPr>
              <a:t>generación</a:t>
            </a:r>
            <a:r>
              <a:rPr sz="1000" b="0" i="0" u="none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sz="1000" b="0" i="0" u="none" dirty="0" err="1">
                <a:latin typeface="Arial" panose="020B0604020202020204" pitchFamily="34" charset="0"/>
                <a:cs typeface="Arial" panose="020B0604020202020204" pitchFamily="34" charset="0"/>
              </a:rPr>
              <a:t>rutinas</a:t>
            </a:r>
            <a:r>
              <a:rPr sz="1000" b="0" i="0" u="none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000" b="0" i="0" u="none" dirty="0" err="1">
                <a:latin typeface="Arial" panose="020B0604020202020204" pitchFamily="34" charset="0"/>
                <a:cs typeface="Arial" panose="020B0604020202020204" pitchFamily="34" charset="0"/>
              </a:rPr>
              <a:t>personalizadas</a:t>
            </a:r>
            <a:r>
              <a:rPr sz="1000" b="0" i="0" u="none" dirty="0">
                <a:latin typeface="Arial" panose="020B0604020202020204" pitchFamily="34" charset="0"/>
                <a:cs typeface="Arial" panose="020B0604020202020204" pitchFamily="34" charset="0"/>
              </a:rPr>
              <a:t> e </a:t>
            </a:r>
            <a:r>
              <a:rPr sz="1000" b="0" i="0" u="none" dirty="0" err="1">
                <a:latin typeface="Arial" panose="020B0604020202020204" pitchFamily="34" charset="0"/>
                <a:cs typeface="Arial" panose="020B0604020202020204" pitchFamily="34" charset="0"/>
              </a:rPr>
              <a:t>informes</a:t>
            </a:r>
            <a:r>
              <a:rPr sz="1000" b="0" i="0" u="none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sz="1000" b="0" i="0" u="none" dirty="0" err="1">
                <a:latin typeface="Arial" panose="020B0604020202020204" pitchFamily="34" charset="0"/>
                <a:cs typeface="Arial" panose="020B0604020202020204" pitchFamily="34" charset="0"/>
              </a:rPr>
              <a:t>rendimiento</a:t>
            </a:r>
            <a:r>
              <a:rPr sz="1000" b="0" i="0" u="none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23" name="TextBox 25"/>
          <p:cNvSpPr txBox="1"/>
          <p:nvPr/>
        </p:nvSpPr>
        <p:spPr>
          <a:xfrm>
            <a:off x="5703929" y="5351561"/>
            <a:ext cx="591509" cy="15388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000" b="1" i="0" u="none" dirty="0" err="1">
                <a:solidFill>
                  <a:srgbClr val="1E29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PlantUML</a:t>
            </a:r>
            <a:endParaRPr sz="1000" b="1" i="0" u="none" dirty="0">
              <a:solidFill>
                <a:srgbClr val="1E293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TextBox 26"/>
          <p:cNvSpPr txBox="1"/>
          <p:nvPr/>
        </p:nvSpPr>
        <p:spPr>
          <a:xfrm>
            <a:off x="4388587" y="5646836"/>
            <a:ext cx="3326968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 u="none" dirty="0" err="1">
                <a:latin typeface="Arial" panose="020B0604020202020204" pitchFamily="34" charset="0"/>
                <a:cs typeface="Arial" panose="020B0604020202020204" pitchFamily="34" charset="0"/>
              </a:rPr>
              <a:t>Herramienta</a:t>
            </a:r>
            <a:r>
              <a:rPr sz="1000" b="0" i="0" u="none" dirty="0">
                <a:latin typeface="Arial" panose="020B0604020202020204" pitchFamily="34" charset="0"/>
                <a:cs typeface="Arial" panose="020B0604020202020204" pitchFamily="34" charset="0"/>
              </a:rPr>
              <a:t> para </a:t>
            </a:r>
            <a:r>
              <a:rPr sz="1000" b="0" i="0" u="none" dirty="0" err="1">
                <a:latin typeface="Arial" panose="020B0604020202020204" pitchFamily="34" charset="0"/>
                <a:cs typeface="Arial" panose="020B0604020202020204" pitchFamily="34" charset="0"/>
              </a:rPr>
              <a:t>modelado</a:t>
            </a:r>
            <a:r>
              <a:rPr sz="1000" b="0" i="0" u="none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000" b="0" i="0" u="none" dirty="0" err="1">
                <a:latin typeface="Arial" panose="020B0604020202020204" pitchFamily="34" charset="0"/>
                <a:cs typeface="Arial" panose="020B0604020202020204" pitchFamily="34" charset="0"/>
              </a:rPr>
              <a:t>estándar</a:t>
            </a:r>
            <a:r>
              <a:rPr sz="1000" b="0" i="0" u="none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sz="1000" b="0" i="0" u="none" dirty="0" err="1">
                <a:latin typeface="Arial" panose="020B0604020202020204" pitchFamily="34" charset="0"/>
                <a:cs typeface="Arial" panose="020B0604020202020204" pitchFamily="34" charset="0"/>
              </a:rPr>
              <a:t>Casos</a:t>
            </a:r>
            <a:r>
              <a:rPr sz="1000" b="0" i="0" u="none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sz="1000" b="0" i="0" u="none" dirty="0" err="1">
                <a:latin typeface="Arial" panose="020B0604020202020204" pitchFamily="34" charset="0"/>
                <a:cs typeface="Arial" panose="020B0604020202020204" pitchFamily="34" charset="0"/>
              </a:rPr>
              <a:t>Uso</a:t>
            </a:r>
            <a:r>
              <a:rPr sz="1000" b="0" i="0" u="none" dirty="0">
                <a:latin typeface="Arial" panose="020B0604020202020204" pitchFamily="34" charset="0"/>
                <a:cs typeface="Arial" panose="020B0604020202020204" pitchFamily="34" charset="0"/>
              </a:rPr>
              <a:t>, Base de </a:t>
            </a:r>
            <a:r>
              <a:rPr sz="1000" b="0" i="0" u="none" dirty="0" err="1">
                <a:latin typeface="Arial" panose="020B0604020202020204" pitchFamily="34" charset="0"/>
                <a:cs typeface="Arial" panose="020B0604020202020204" pitchFamily="34" charset="0"/>
              </a:rPr>
              <a:t>Datos</a:t>
            </a:r>
            <a:r>
              <a:rPr sz="1000" b="0" i="0" u="none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sz="1000" b="0" i="0" u="none" dirty="0" err="1">
                <a:latin typeface="Arial" panose="020B0604020202020204" pitchFamily="34" charset="0"/>
                <a:cs typeface="Arial" panose="020B0604020202020204" pitchFamily="34" charset="0"/>
              </a:rPr>
              <a:t>Clases</a:t>
            </a:r>
            <a:r>
              <a:rPr sz="1000" b="0" i="0" u="none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25" name="TextBox 27"/>
          <p:cNvSpPr txBox="1"/>
          <p:nvPr/>
        </p:nvSpPr>
        <p:spPr>
          <a:xfrm>
            <a:off x="7897499" y="5351561"/>
            <a:ext cx="4042302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350" b="1" i="0" u="none">
                <a:solidFill>
                  <a:srgbClr val="1E293B"/>
                </a:solidFill>
                <a:latin typeface="Plus Jakarta Sans"/>
              </a:rPr>
              <a:t>ClickUp</a:t>
            </a:r>
          </a:p>
        </p:txBody>
      </p:sp>
      <p:sp>
        <p:nvSpPr>
          <p:cNvPr id="26" name="TextBox 28"/>
          <p:cNvSpPr txBox="1"/>
          <p:nvPr/>
        </p:nvSpPr>
        <p:spPr>
          <a:xfrm>
            <a:off x="8211237" y="5646836"/>
            <a:ext cx="3303252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 u="none" dirty="0" err="1">
                <a:latin typeface="Arial" panose="020B0604020202020204" pitchFamily="34" charset="0"/>
                <a:cs typeface="Arial" panose="020B0604020202020204" pitchFamily="34" charset="0"/>
              </a:rPr>
              <a:t>Gestión</a:t>
            </a:r>
            <a:r>
              <a:rPr sz="1000" b="0" i="0" u="none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sz="1000" b="0" i="0" u="none" dirty="0" err="1">
                <a:latin typeface="Arial" panose="020B0604020202020204" pitchFamily="34" charset="0"/>
                <a:cs typeface="Arial" panose="020B0604020202020204" pitchFamily="34" charset="0"/>
              </a:rPr>
              <a:t>tareas</a:t>
            </a:r>
            <a:r>
              <a:rPr sz="1000" b="0" i="0" u="none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000" b="0" i="0" u="none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sz="1000" b="0" i="0" u="none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000" b="0" i="0" u="none" dirty="0" err="1">
                <a:latin typeface="Arial" panose="020B0604020202020204" pitchFamily="34" charset="0"/>
                <a:cs typeface="Arial" panose="020B0604020202020204" pitchFamily="34" charset="0"/>
              </a:rPr>
              <a:t>tablero</a:t>
            </a:r>
            <a:r>
              <a:rPr sz="1000" b="0" i="0" u="none" dirty="0">
                <a:latin typeface="Arial" panose="020B0604020202020204" pitchFamily="34" charset="0"/>
                <a:cs typeface="Arial" panose="020B0604020202020204" pitchFamily="34" charset="0"/>
              </a:rPr>
              <a:t> Kanban, </a:t>
            </a:r>
            <a:r>
              <a:rPr sz="1000" b="0" i="0" u="none" dirty="0" err="1">
                <a:latin typeface="Arial" panose="020B0604020202020204" pitchFamily="34" charset="0"/>
                <a:cs typeface="Arial" panose="020B0604020202020204" pitchFamily="34" charset="0"/>
              </a:rPr>
              <a:t>Diagrama</a:t>
            </a:r>
            <a:r>
              <a:rPr sz="1000" b="0" i="0" u="none" dirty="0">
                <a:latin typeface="Arial" panose="020B0604020202020204" pitchFamily="34" charset="0"/>
                <a:cs typeface="Arial" panose="020B0604020202020204" pitchFamily="34" charset="0"/>
              </a:rPr>
              <a:t> de Gantt y control de </a:t>
            </a:r>
            <a:r>
              <a:rPr sz="1000" b="0" i="0" u="none" dirty="0" err="1">
                <a:latin typeface="Arial" panose="020B0604020202020204" pitchFamily="34" charset="0"/>
                <a:cs typeface="Arial" panose="020B0604020202020204" pitchFamily="34" charset="0"/>
              </a:rPr>
              <a:t>entregas</a:t>
            </a:r>
            <a:r>
              <a:rPr sz="1000" b="0" i="0" u="none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27" name="TextBox 25"/>
          <p:cNvSpPr txBox="1"/>
          <p:nvPr/>
        </p:nvSpPr>
        <p:spPr>
          <a:xfrm>
            <a:off x="1736999" y="5346798"/>
            <a:ext cx="1072409" cy="15388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lang="en-US" sz="1000" b="1" i="0" u="none" dirty="0" smtClean="0">
                <a:solidFill>
                  <a:srgbClr val="1E29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Google Gemini IA</a:t>
            </a:r>
            <a:endParaRPr sz="1000" b="1" i="0" u="none" dirty="0">
              <a:solidFill>
                <a:srgbClr val="1E293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8" name="TextBox 25"/>
          <p:cNvSpPr txBox="1"/>
          <p:nvPr/>
        </p:nvSpPr>
        <p:spPr>
          <a:xfrm>
            <a:off x="2055994" y="2560833"/>
            <a:ext cx="434413" cy="15388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lang="en-US" sz="1000" b="1" i="0" u="none" dirty="0" smtClean="0">
                <a:solidFill>
                  <a:srgbClr val="1E29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Python</a:t>
            </a:r>
            <a:endParaRPr sz="1000" b="1" i="0" u="none" dirty="0">
              <a:solidFill>
                <a:srgbClr val="1E293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492116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/>
          <p:cNvSpPr/>
          <p:nvPr/>
        </p:nvSpPr>
        <p:spPr>
          <a:xfrm>
            <a:off x="0" y="0"/>
            <a:ext cx="12192000" cy="503434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PROYECTO FINAL</a:t>
            </a:r>
            <a:endParaRPr lang="es-VE" sz="2400" dirty="0"/>
          </a:p>
        </p:txBody>
      </p:sp>
      <p:sp>
        <p:nvSpPr>
          <p:cNvPr id="5" name="Rectángulo 4"/>
          <p:cNvSpPr/>
          <p:nvPr/>
        </p:nvSpPr>
        <p:spPr>
          <a:xfrm>
            <a:off x="0" y="503434"/>
            <a:ext cx="12192000" cy="554804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DEFINICIÓN DE REQUISITOS</a:t>
            </a:r>
            <a:endParaRPr lang="es-VE" sz="2400" dirty="0"/>
          </a:p>
        </p:txBody>
      </p:sp>
      <p:sp>
        <p:nvSpPr>
          <p:cNvPr id="6" name="Rounded Rectangle 2"/>
          <p:cNvSpPr/>
          <p:nvPr/>
        </p:nvSpPr>
        <p:spPr>
          <a:xfrm>
            <a:off x="500063" y="1291529"/>
            <a:ext cx="5524500" cy="5343525"/>
          </a:xfrm>
          <a:prstGeom prst="roundRect">
            <a:avLst>
              <a:gd name="adj" fmla="val 2139"/>
            </a:avLst>
          </a:prstGeom>
          <a:solidFill>
            <a:srgbClr val="F0FDF4"/>
          </a:solidFill>
          <a:ln w="9525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endParaRPr lang="es-MX" sz="975" dirty="0">
              <a:solidFill>
                <a:srgbClr val="14532D"/>
              </a:solidFill>
              <a:latin typeface="Plus Jakarta Sans"/>
            </a:endParaRPr>
          </a:p>
        </p:txBody>
      </p:sp>
      <p:sp>
        <p:nvSpPr>
          <p:cNvPr id="7" name="Rounded Rectangle 3"/>
          <p:cNvSpPr/>
          <p:nvPr/>
        </p:nvSpPr>
        <p:spPr>
          <a:xfrm>
            <a:off x="6210300" y="1291530"/>
            <a:ext cx="5524500" cy="5343525"/>
          </a:xfrm>
          <a:prstGeom prst="roundRect">
            <a:avLst>
              <a:gd name="adj" fmla="val 2139"/>
            </a:avLst>
          </a:prstGeom>
          <a:solidFill>
            <a:srgbClr val="FEFCE8"/>
          </a:solidFill>
          <a:ln w="9525">
            <a:solidFill>
              <a:srgbClr val="FEF0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325" y="1567755"/>
            <a:ext cx="219075" cy="171450"/>
          </a:xfrm>
          <a:prstGeom prst="rect">
            <a:avLst/>
          </a:prstGeom>
        </p:spPr>
      </p:pic>
      <p:pic>
        <p:nvPicPr>
          <p:cNvPr id="9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8425" y="1567755"/>
            <a:ext cx="171450" cy="1714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5075" y="1536751"/>
            <a:ext cx="2164054" cy="207749"/>
          </a:xfrm>
          <a:prstGeom prst="rect">
            <a:avLst/>
          </a:prstGeom>
          <a:noFill/>
        </p:spPr>
        <p:txBody>
          <a:bodyPr wrap="none" lIns="219075" tIns="0" rIns="0" bIns="0" anchor="t">
            <a:spAutoFit/>
          </a:bodyPr>
          <a:lstStyle/>
          <a:p>
            <a:pPr algn="l"/>
            <a:r>
              <a:rPr sz="1350" b="1" i="0" u="none" dirty="0" err="1">
                <a:solidFill>
                  <a:srgbClr val="166534"/>
                </a:solidFill>
                <a:latin typeface="Plus Jakarta Sans"/>
              </a:rPr>
              <a:t>Requisitos</a:t>
            </a:r>
            <a:r>
              <a:rPr sz="1350" b="1" i="0" u="none" dirty="0">
                <a:solidFill>
                  <a:srgbClr val="166534"/>
                </a:solidFill>
                <a:latin typeface="Plus Jakarta Sans"/>
              </a:rPr>
              <a:t> </a:t>
            </a:r>
            <a:r>
              <a:rPr sz="1350" b="1" i="0" u="none" dirty="0" err="1" smtClean="0">
                <a:solidFill>
                  <a:srgbClr val="166534"/>
                </a:solidFill>
                <a:latin typeface="Plus Jakarta Sans"/>
              </a:rPr>
              <a:t>Funcionales</a:t>
            </a:r>
            <a:endParaRPr sz="1350" b="1" i="0" u="none" dirty="0">
              <a:solidFill>
                <a:srgbClr val="166534"/>
              </a:solidFill>
              <a:latin typeface="Plus Jakarta Sans"/>
            </a:endParaRPr>
          </a:p>
        </p:txBody>
      </p:sp>
      <p:sp>
        <p:nvSpPr>
          <p:cNvPr id="17" name="TextBox 9"/>
          <p:cNvSpPr txBox="1"/>
          <p:nvPr/>
        </p:nvSpPr>
        <p:spPr>
          <a:xfrm>
            <a:off x="6448425" y="1528990"/>
            <a:ext cx="2442976" cy="207749"/>
          </a:xfrm>
          <a:prstGeom prst="rect">
            <a:avLst/>
          </a:prstGeom>
          <a:noFill/>
        </p:spPr>
        <p:txBody>
          <a:bodyPr wrap="none" lIns="219075" tIns="0" rIns="0" bIns="0" anchor="t">
            <a:spAutoFit/>
          </a:bodyPr>
          <a:lstStyle/>
          <a:p>
            <a:pPr algn="l"/>
            <a:r>
              <a:rPr sz="1350" b="1" i="0" u="none" dirty="0" err="1">
                <a:solidFill>
                  <a:schemeClr val="accent4">
                    <a:lumMod val="50000"/>
                  </a:schemeClr>
                </a:solidFill>
                <a:latin typeface="Plus Jakarta Sans"/>
              </a:rPr>
              <a:t>Requisitos</a:t>
            </a:r>
            <a:r>
              <a:rPr sz="1350" b="1" i="0" u="none" dirty="0">
                <a:solidFill>
                  <a:schemeClr val="accent4">
                    <a:lumMod val="50000"/>
                  </a:schemeClr>
                </a:solidFill>
                <a:latin typeface="Plus Jakarta Sans"/>
              </a:rPr>
              <a:t> </a:t>
            </a:r>
            <a:r>
              <a:rPr lang="en-US" sz="1350" b="1" i="0" u="none" dirty="0" smtClean="0">
                <a:solidFill>
                  <a:schemeClr val="accent4">
                    <a:lumMod val="50000"/>
                  </a:schemeClr>
                </a:solidFill>
                <a:latin typeface="Plus Jakarta Sans"/>
              </a:rPr>
              <a:t>No </a:t>
            </a:r>
            <a:r>
              <a:rPr sz="1350" b="1" i="0" u="none" dirty="0" err="1" smtClean="0">
                <a:solidFill>
                  <a:schemeClr val="accent4">
                    <a:lumMod val="50000"/>
                  </a:schemeClr>
                </a:solidFill>
                <a:latin typeface="Plus Jakarta Sans"/>
              </a:rPr>
              <a:t>Funcionales</a:t>
            </a:r>
            <a:endParaRPr sz="1350" b="1" i="0" u="none" dirty="0">
              <a:solidFill>
                <a:schemeClr val="accent4">
                  <a:lumMod val="50000"/>
                </a:schemeClr>
              </a:solidFill>
              <a:latin typeface="Plus Jakarta Sans"/>
            </a:endParaRPr>
          </a:p>
        </p:txBody>
      </p:sp>
      <p:sp>
        <p:nvSpPr>
          <p:cNvPr id="3" name="Rectángulo 2"/>
          <p:cNvSpPr/>
          <p:nvPr/>
        </p:nvSpPr>
        <p:spPr>
          <a:xfrm>
            <a:off x="500063" y="1891867"/>
            <a:ext cx="5410286" cy="32547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marR="0" lvl="0" indent="-34290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●"/>
            </a:pPr>
            <a:r>
              <a:rPr lang="es-VE" sz="1000" b="1" dirty="0">
                <a:solidFill>
                  <a:schemeClr val="accent6">
                    <a:lumMod val="50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rPr>
              <a:t>Gestión de Biblioteca </a:t>
            </a:r>
            <a:r>
              <a:rPr lang="es-VE" sz="1000" b="1" dirty="0" smtClean="0">
                <a:solidFill>
                  <a:schemeClr val="accent6">
                    <a:lumMod val="50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rPr>
              <a:t>:</a:t>
            </a:r>
            <a:r>
              <a:rPr lang="es-VE" sz="1000" dirty="0" smtClean="0">
                <a:solidFill>
                  <a:schemeClr val="accent6">
                    <a:lumMod val="50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rPr>
              <a:t> </a:t>
            </a:r>
            <a:r>
              <a:rPr lang="es-VE" sz="1000" dirty="0">
                <a:solidFill>
                  <a:schemeClr val="accent6">
                    <a:lumMod val="50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rPr>
              <a:t>El administrador es el único encargado de ampliar y gestionar el repositorio de ejercicios guiados.</a:t>
            </a:r>
          </a:p>
          <a:p>
            <a:pPr marL="342900" marR="0" lvl="0" indent="-34290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●"/>
            </a:pPr>
            <a:r>
              <a:rPr lang="es-VE" sz="1000" b="1" dirty="0">
                <a:solidFill>
                  <a:schemeClr val="accent6">
                    <a:lumMod val="50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rPr>
              <a:t>Filtrado por Tipo:</a:t>
            </a:r>
            <a:r>
              <a:rPr lang="es-VE" sz="1000" dirty="0">
                <a:solidFill>
                  <a:schemeClr val="accent6">
                    <a:lumMod val="50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rPr>
              <a:t> Clasificación de ejercicios por categorías como tiro, pase o control de balón.</a:t>
            </a:r>
          </a:p>
          <a:p>
            <a:pPr marL="342900" marR="0" lvl="0" indent="-34290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●"/>
            </a:pPr>
            <a:r>
              <a:rPr lang="es-VE" sz="1000" b="1" dirty="0">
                <a:solidFill>
                  <a:schemeClr val="accent6">
                    <a:lumMod val="50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rPr>
              <a:t>Generador de Rutinas y Recomendaciones:</a:t>
            </a:r>
            <a:r>
              <a:rPr lang="es-VE" sz="1000" dirty="0">
                <a:solidFill>
                  <a:schemeClr val="accent6">
                    <a:lumMod val="50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rPr>
              <a:t> El sistema genera rutinas diarias/semanales automáticas y proyecciones de progreso basadas en los objetivos del usuario.</a:t>
            </a:r>
          </a:p>
          <a:p>
            <a:pPr marL="342900" marR="0" lvl="0" indent="-34290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●"/>
            </a:pPr>
            <a:r>
              <a:rPr lang="es-VE" sz="1000" b="1" dirty="0">
                <a:solidFill>
                  <a:schemeClr val="accent6">
                    <a:lumMod val="50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rPr>
              <a:t>Evaluación de esfuerzo y ajuste de rutina: </a:t>
            </a:r>
            <a:r>
              <a:rPr lang="es-VE" sz="1000" dirty="0">
                <a:solidFill>
                  <a:schemeClr val="accent6">
                    <a:lumMod val="50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rPr>
              <a:t>Al finalizar cada ejercicio o rutina, el sistema debe solicitar al usuario una valoración del esfuerzo, con base en esta valoración el sistema debe ajustar la dificultad de la siguiente recomendación de rutina.</a:t>
            </a:r>
          </a:p>
          <a:p>
            <a:pPr marL="342900" marR="0" lvl="0" indent="-342900" algn="just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●"/>
            </a:pPr>
            <a:r>
              <a:rPr lang="es-VE" sz="1000" b="1" dirty="0">
                <a:solidFill>
                  <a:schemeClr val="accent6">
                    <a:lumMod val="50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rPr>
              <a:t>Creación Manual:</a:t>
            </a:r>
            <a:r>
              <a:rPr lang="es-VE" sz="1000" dirty="0">
                <a:solidFill>
                  <a:schemeClr val="accent6">
                    <a:lumMod val="50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rPr>
              <a:t> Los usuarios pueden diseñar sus propias rutinas seleccionando ejercicios de la biblioteca.</a:t>
            </a:r>
          </a:p>
          <a:p>
            <a:pPr marL="342900" marR="0" lvl="0" indent="-34290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●"/>
            </a:pPr>
            <a:r>
              <a:rPr lang="es-VE" sz="1000" b="1" dirty="0" smtClean="0">
                <a:solidFill>
                  <a:schemeClr val="accent6">
                    <a:lumMod val="50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rPr>
              <a:t>Estadísticas </a:t>
            </a:r>
            <a:r>
              <a:rPr lang="es-VE" sz="1000" b="1" dirty="0">
                <a:solidFill>
                  <a:schemeClr val="accent6">
                    <a:lumMod val="50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rPr>
              <a:t>de Rendimiento:</a:t>
            </a:r>
            <a:r>
              <a:rPr lang="es-VE" sz="1000" dirty="0">
                <a:solidFill>
                  <a:schemeClr val="accent6">
                    <a:lumMod val="50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rPr>
              <a:t> Ingreso de resultados y generación de gráficos de evolución mensual.</a:t>
            </a:r>
          </a:p>
          <a:p>
            <a:pPr marL="342900" marR="0" lvl="0" indent="-34290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●"/>
            </a:pPr>
            <a:r>
              <a:rPr lang="es-VE" sz="1000" b="1" dirty="0">
                <a:solidFill>
                  <a:schemeClr val="accent6">
                    <a:lumMod val="50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rPr>
              <a:t>Recordatorios:</a:t>
            </a:r>
            <a:r>
              <a:rPr lang="es-VE" sz="1000" dirty="0">
                <a:solidFill>
                  <a:schemeClr val="accent6">
                    <a:lumMod val="50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rPr>
              <a:t> Notificaciones automáticas de entrenamientos pendientes.</a:t>
            </a:r>
          </a:p>
          <a:p>
            <a:pPr marL="342900" marR="0" lvl="0" indent="-342900" algn="just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●"/>
            </a:pPr>
            <a:r>
              <a:rPr lang="es-VE" sz="1000" b="1" dirty="0">
                <a:solidFill>
                  <a:schemeClr val="accent6">
                    <a:lumMod val="50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rPr>
              <a:t>Compartir Progreso:</a:t>
            </a:r>
            <a:r>
              <a:rPr lang="es-VE" sz="1000" dirty="0">
                <a:solidFill>
                  <a:schemeClr val="accent6">
                    <a:lumMod val="50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rPr>
              <a:t> Generación de imágenes con estadísticas y logros para redes sociales.</a:t>
            </a:r>
            <a:endParaRPr lang="es-VE" sz="1000" u="none" strike="noStrike" dirty="0">
              <a:solidFill>
                <a:schemeClr val="accent6">
                  <a:lumMod val="50000"/>
                </a:schemeClr>
              </a:solidFill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18" name="Rectángulo 17"/>
          <p:cNvSpPr/>
          <p:nvPr/>
        </p:nvSpPr>
        <p:spPr>
          <a:xfrm>
            <a:off x="6210300" y="1801000"/>
            <a:ext cx="5452456" cy="46829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marR="0" lvl="0" indent="-34290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●"/>
            </a:pPr>
            <a:r>
              <a:rPr lang="es-VE" sz="1000" b="1" dirty="0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rPr>
              <a:t>Interfaz Intuitiva:</a:t>
            </a:r>
            <a:r>
              <a:rPr lang="es-VE" sz="1000" dirty="0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rPr>
              <a:t> Diseño visualmente atractivo y fácil de navegar.</a:t>
            </a:r>
          </a:p>
          <a:p>
            <a:pPr marL="342900" marR="0" lvl="0" indent="-34290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●"/>
            </a:pPr>
            <a:r>
              <a:rPr lang="es-VE" sz="1000" b="1" dirty="0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rPr>
              <a:t>Uso Offline:</a:t>
            </a:r>
            <a:r>
              <a:rPr lang="es-VE" sz="1000" dirty="0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rPr>
              <a:t> Las funciones de biblioteca y visualización de rutinas deben estar disponibles sin conexión.</a:t>
            </a:r>
          </a:p>
          <a:p>
            <a:pPr marL="342900" marR="0" lvl="0" indent="-34290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●"/>
            </a:pPr>
            <a:r>
              <a:rPr lang="es-VE" sz="1000" b="1" dirty="0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rPr>
              <a:t>Escalabilidad:</a:t>
            </a:r>
            <a:r>
              <a:rPr lang="es-VE" sz="1000" dirty="0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rPr>
              <a:t> La biblioteca debe permitir la adición masiva de ejercicios por parte del administrador de forma sencilla.</a:t>
            </a:r>
          </a:p>
          <a:p>
            <a:pPr marL="342900" marR="0" lvl="0" indent="-34290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●"/>
            </a:pPr>
            <a:r>
              <a:rPr lang="es-VE" sz="1000" b="1" dirty="0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rPr>
              <a:t>Seguridad y Roles:</a:t>
            </a:r>
            <a:r>
              <a:rPr lang="es-VE" sz="1000" dirty="0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rPr>
              <a:t> Gestión estricta de sesiones limitada a dos roles: </a:t>
            </a:r>
            <a:r>
              <a:rPr lang="es-VE" sz="1000" b="1" dirty="0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rPr>
              <a:t>Administrador</a:t>
            </a:r>
            <a:r>
              <a:rPr lang="es-VE" sz="1000" dirty="0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rPr>
              <a:t> y </a:t>
            </a:r>
            <a:r>
              <a:rPr lang="es-VE" sz="1000" b="1" dirty="0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rPr>
              <a:t>Cliente</a:t>
            </a:r>
            <a:r>
              <a:rPr lang="es-VE" sz="1000" dirty="0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rPr>
              <a:t>.</a:t>
            </a:r>
          </a:p>
          <a:p>
            <a:pPr marL="342900" marR="0" lvl="0" indent="-34290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●"/>
            </a:pPr>
            <a:r>
              <a:rPr lang="es-VE" sz="1000" b="1" dirty="0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rPr>
              <a:t>Tiempo de Respuesta:</a:t>
            </a:r>
            <a:r>
              <a:rPr lang="es-VE" sz="1000" dirty="0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rPr>
              <a:t> El motor de generación de rutinas debe procesar y devolver una recomendación en un tiempo apropiado bajo condiciones normales de carga.</a:t>
            </a:r>
          </a:p>
          <a:p>
            <a:pPr marL="342900" marR="0" lvl="0" indent="-34290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●"/>
            </a:pPr>
            <a:r>
              <a:rPr lang="es-VE" sz="1000" b="1" dirty="0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rPr>
              <a:t>Eficiencia de Almacenamiento:</a:t>
            </a:r>
            <a:r>
              <a:rPr lang="es-VE" sz="1000" dirty="0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rPr>
              <a:t> El uso de la base de datos local (</a:t>
            </a:r>
            <a:r>
              <a:rPr lang="es-VE" sz="1000" dirty="0" err="1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rPr>
              <a:t>SQLite</a:t>
            </a:r>
            <a:r>
              <a:rPr lang="es-VE" sz="1000" dirty="0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rPr>
              <a:t>) debe estar optimizado para que el archivo de datos no crezca exponencialmente con el registro de resultados históricos. </a:t>
            </a:r>
          </a:p>
          <a:p>
            <a:pPr marL="342900" marR="0" lvl="0" indent="-34290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●"/>
            </a:pPr>
            <a:r>
              <a:rPr lang="es-VE" sz="1000" b="1" dirty="0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rPr>
              <a:t>Integridad de Datos:</a:t>
            </a:r>
            <a:r>
              <a:rPr lang="es-VE" sz="1000" dirty="0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rPr>
              <a:t> En caso de un cierre inesperado de la aplicación, el sistema debe garantizar que los datos de la rutina actual no se corrompan.</a:t>
            </a:r>
          </a:p>
          <a:p>
            <a:pPr marL="342900" marR="0" lvl="0" indent="-34290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●"/>
            </a:pPr>
            <a:r>
              <a:rPr lang="es-VE" sz="1000" b="1" dirty="0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rPr>
              <a:t>Documentación Técnica:</a:t>
            </a:r>
            <a:r>
              <a:rPr lang="es-VE" sz="1000" dirty="0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rPr>
              <a:t> El código debe seguir estándares de </a:t>
            </a:r>
            <a:r>
              <a:rPr lang="es-VE" sz="1000" i="1" dirty="0" err="1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rPr>
              <a:t>Clean</a:t>
            </a:r>
            <a:r>
              <a:rPr lang="es-VE" sz="1000" i="1" dirty="0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rPr>
              <a:t> </a:t>
            </a:r>
            <a:r>
              <a:rPr lang="es-VE" sz="1000" i="1" dirty="0" err="1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rPr>
              <a:t>Code</a:t>
            </a:r>
            <a:r>
              <a:rPr lang="es-VE" sz="1000" dirty="0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rPr>
              <a:t> y contar con documentación interna para que un nuevo desarrollador pueda entender la lógica</a:t>
            </a:r>
          </a:p>
          <a:p>
            <a:pPr marL="342900" marR="0" lvl="0" indent="-34290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●"/>
            </a:pPr>
            <a:r>
              <a:rPr lang="es-VE" sz="1000" b="1" dirty="0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rPr>
              <a:t>Tolerancia a fallos:</a:t>
            </a:r>
            <a:r>
              <a:rPr lang="es-VE" sz="1000" dirty="0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rPr>
              <a:t> En caso de que el motor de recomendaciones falle al generar una rutina, el sistema no debe cerrarse inesperadamente en su lugar, debe proveer una rutina base de contingencia predeterminada. </a:t>
            </a:r>
          </a:p>
          <a:p>
            <a:pPr marL="342900" marR="0" lvl="0" indent="-34290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●"/>
            </a:pPr>
            <a:r>
              <a:rPr lang="es-VE" sz="1000" b="1" dirty="0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rPr>
              <a:t>Sincronización:</a:t>
            </a:r>
            <a:r>
              <a:rPr lang="es-VE" sz="1000" dirty="0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rPr>
              <a:t> El módulo encargado de sincronizar los datos locales con el servidor principal debe incluir un sistema de reintentos automáticos y soporte para reanudar transferencias pausadas, garantizando la integridad de la sincronización frente a cortes, fluctuaciones de internet o transiciones entre redes </a:t>
            </a:r>
            <a:r>
              <a:rPr lang="es-VE" sz="1000" dirty="0" err="1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rPr>
              <a:t>Wi</a:t>
            </a:r>
            <a:r>
              <a:rPr lang="es-VE" sz="1000" dirty="0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rPr>
              <a:t>-Fi y datos móviles.</a:t>
            </a:r>
          </a:p>
          <a:p>
            <a:pPr marL="342900" marR="0" lvl="0" indent="-342900" algn="just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●"/>
            </a:pPr>
            <a:r>
              <a:rPr lang="es-VE" sz="1000" b="1" dirty="0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rPr>
              <a:t>Mantenibilidad del Modelo:</a:t>
            </a:r>
            <a:r>
              <a:rPr lang="es-VE" sz="1000" dirty="0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rPr>
              <a:t> La arquitectura del código debe permitir que las reglas lógicas del motor de generación de rutinas puedan ser actualizadas o parcheadas sin necesidad de que el usuario tenga que reinstalar toda la aplicación desde cero.</a:t>
            </a:r>
            <a:endParaRPr lang="es-VE" sz="1000" u="none" strike="noStrike" dirty="0">
              <a:solidFill>
                <a:schemeClr val="accent4">
                  <a:lumMod val="50000"/>
                </a:schemeClr>
              </a:solidFill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02165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/>
          <p:cNvSpPr/>
          <p:nvPr/>
        </p:nvSpPr>
        <p:spPr>
          <a:xfrm>
            <a:off x="0" y="0"/>
            <a:ext cx="12192000" cy="503434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PROYECTO FINAL</a:t>
            </a:r>
            <a:endParaRPr lang="es-VE" sz="2400" dirty="0"/>
          </a:p>
        </p:txBody>
      </p:sp>
      <p:sp>
        <p:nvSpPr>
          <p:cNvPr id="5" name="Rectángulo 4"/>
          <p:cNvSpPr/>
          <p:nvPr/>
        </p:nvSpPr>
        <p:spPr>
          <a:xfrm>
            <a:off x="0" y="503434"/>
            <a:ext cx="12192000" cy="554804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DIAGRAMA DE CASOS DE USO</a:t>
            </a:r>
            <a:endParaRPr lang="es-VE" sz="2400" dirty="0"/>
          </a:p>
        </p:txBody>
      </p:sp>
      <p:pic>
        <p:nvPicPr>
          <p:cNvPr id="2" name="Imagen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1476" y="1205344"/>
            <a:ext cx="9343506" cy="5652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47519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/>
          <p:cNvSpPr/>
          <p:nvPr/>
        </p:nvSpPr>
        <p:spPr>
          <a:xfrm>
            <a:off x="0" y="0"/>
            <a:ext cx="12192000" cy="503434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PROYECTO FINAL</a:t>
            </a:r>
            <a:endParaRPr lang="es-VE" sz="2400" dirty="0"/>
          </a:p>
        </p:txBody>
      </p:sp>
      <p:sp>
        <p:nvSpPr>
          <p:cNvPr id="5" name="Rectángulo 4"/>
          <p:cNvSpPr/>
          <p:nvPr/>
        </p:nvSpPr>
        <p:spPr>
          <a:xfrm>
            <a:off x="0" y="503434"/>
            <a:ext cx="12192000" cy="554804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DIAGRAMA DE CLASES</a:t>
            </a:r>
            <a:endParaRPr lang="es-VE" sz="2400" dirty="0"/>
          </a:p>
        </p:txBody>
      </p:sp>
      <p:pic>
        <p:nvPicPr>
          <p:cNvPr id="2" name="Imagen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749" y="1561672"/>
            <a:ext cx="11760724" cy="4805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0746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/>
          <p:cNvSpPr/>
          <p:nvPr/>
        </p:nvSpPr>
        <p:spPr>
          <a:xfrm>
            <a:off x="0" y="0"/>
            <a:ext cx="12192000" cy="503434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PROYECTO FINAL</a:t>
            </a:r>
            <a:endParaRPr lang="es-VE" sz="2400" dirty="0"/>
          </a:p>
        </p:txBody>
      </p:sp>
      <p:sp>
        <p:nvSpPr>
          <p:cNvPr id="5" name="Rectángulo 4"/>
          <p:cNvSpPr/>
          <p:nvPr/>
        </p:nvSpPr>
        <p:spPr>
          <a:xfrm>
            <a:off x="0" y="503434"/>
            <a:ext cx="12192000" cy="554804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DIAGRAMA </a:t>
            </a:r>
            <a:r>
              <a:rPr lang="es-VE" sz="2400" smtClean="0"/>
              <a:t>DE SECUENCIA</a:t>
            </a:r>
            <a:endParaRPr lang="es-VE" sz="2400" dirty="0"/>
          </a:p>
        </p:txBody>
      </p:sp>
      <p:pic>
        <p:nvPicPr>
          <p:cNvPr id="2" name="Imagen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0253" y="1578251"/>
            <a:ext cx="4511644" cy="3991589"/>
          </a:xfrm>
          <a:prstGeom prst="rect">
            <a:avLst/>
          </a:prstGeom>
        </p:spPr>
      </p:pic>
      <p:pic>
        <p:nvPicPr>
          <p:cNvPr id="3" name="Imagen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945" y="1561672"/>
            <a:ext cx="6562551" cy="4862850"/>
          </a:xfrm>
          <a:prstGeom prst="rect">
            <a:avLst/>
          </a:prstGeom>
        </p:spPr>
      </p:pic>
      <p:pic>
        <p:nvPicPr>
          <p:cNvPr id="7" name="Imagen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8010" y="1561672"/>
            <a:ext cx="5027619" cy="4862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47845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/>
          <p:cNvSpPr/>
          <p:nvPr/>
        </p:nvSpPr>
        <p:spPr>
          <a:xfrm>
            <a:off x="0" y="0"/>
            <a:ext cx="12192000" cy="503434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PROYECTO FINAL</a:t>
            </a:r>
            <a:endParaRPr lang="es-VE" sz="2400" dirty="0"/>
          </a:p>
        </p:txBody>
      </p:sp>
      <p:sp>
        <p:nvSpPr>
          <p:cNvPr id="3" name="Rectángulo 2"/>
          <p:cNvSpPr/>
          <p:nvPr/>
        </p:nvSpPr>
        <p:spPr>
          <a:xfrm>
            <a:off x="0" y="503434"/>
            <a:ext cx="12192000" cy="554804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BASE DE DATOS</a:t>
            </a:r>
            <a:endParaRPr lang="es-VE" sz="2400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853" y="1450399"/>
            <a:ext cx="11546532" cy="51332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52434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/>
          <p:cNvSpPr/>
          <p:nvPr/>
        </p:nvSpPr>
        <p:spPr>
          <a:xfrm>
            <a:off x="0" y="0"/>
            <a:ext cx="12192000" cy="503434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PROYECTO FINAL</a:t>
            </a:r>
            <a:endParaRPr lang="es-VE" sz="2400" dirty="0"/>
          </a:p>
        </p:txBody>
      </p:sp>
      <p:sp>
        <p:nvSpPr>
          <p:cNvPr id="3" name="Rectángulo 2"/>
          <p:cNvSpPr/>
          <p:nvPr/>
        </p:nvSpPr>
        <p:spPr>
          <a:xfrm>
            <a:off x="0" y="503434"/>
            <a:ext cx="12192000" cy="554804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INTERFACES DE ENTRADA / SALIDA</a:t>
            </a:r>
            <a:endParaRPr lang="es-VE" sz="2400" dirty="0"/>
          </a:p>
        </p:txBody>
      </p:sp>
      <p:graphicFrame>
        <p:nvGraphicFramePr>
          <p:cNvPr id="4" name="Tabla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5882789"/>
              </p:ext>
            </p:extLst>
          </p:nvPr>
        </p:nvGraphicFramePr>
        <p:xfrm>
          <a:off x="1388224" y="2041389"/>
          <a:ext cx="9228976" cy="34208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14488"/>
                <a:gridCol w="4614488"/>
              </a:tblGrid>
              <a:tr h="556158">
                <a:tc>
                  <a:txBody>
                    <a:bodyPr/>
                    <a:lstStyle/>
                    <a:p>
                      <a:r>
                        <a:rPr lang="es-VE" dirty="0" smtClean="0"/>
                        <a:t>Entradas</a:t>
                      </a:r>
                      <a:endParaRPr lang="es-V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VE" dirty="0" smtClean="0"/>
                        <a:t>Salidas</a:t>
                      </a:r>
                      <a:endParaRPr lang="es-VE" dirty="0"/>
                    </a:p>
                  </a:txBody>
                  <a:tcPr/>
                </a:tc>
              </a:tr>
              <a:tr h="556158">
                <a:tc>
                  <a:txBody>
                    <a:bodyPr/>
                    <a:lstStyle/>
                    <a:p>
                      <a:r>
                        <a:rPr lang="es-VE" dirty="0" smtClean="0"/>
                        <a:t>Formulario</a:t>
                      </a:r>
                      <a:r>
                        <a:rPr lang="es-VE" baseline="0" dirty="0" smtClean="0"/>
                        <a:t> de registro </a:t>
                      </a:r>
                      <a:endParaRPr lang="es-V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VE" dirty="0" err="1" smtClean="0"/>
                        <a:t>Token</a:t>
                      </a:r>
                      <a:r>
                        <a:rPr lang="es-VE" baseline="0" dirty="0" smtClean="0"/>
                        <a:t> JWT en </a:t>
                      </a:r>
                      <a:r>
                        <a:rPr lang="es-VE" baseline="0" dirty="0" err="1" smtClean="0"/>
                        <a:t>login</a:t>
                      </a:r>
                      <a:endParaRPr lang="es-VE" dirty="0"/>
                    </a:p>
                  </a:txBody>
                  <a:tcPr/>
                </a:tc>
              </a:tr>
              <a:tr h="556158">
                <a:tc>
                  <a:txBody>
                    <a:bodyPr/>
                    <a:lstStyle/>
                    <a:p>
                      <a:r>
                        <a:rPr lang="es-VE" dirty="0" smtClean="0"/>
                        <a:t>Formulario de perfil</a:t>
                      </a:r>
                      <a:endParaRPr lang="es-V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VE" dirty="0" smtClean="0"/>
                        <a:t>Rutina generada mediante IA</a:t>
                      </a:r>
                      <a:endParaRPr lang="es-VE" dirty="0"/>
                    </a:p>
                  </a:txBody>
                  <a:tcPr/>
                </a:tc>
              </a:tr>
              <a:tr h="556158">
                <a:tc>
                  <a:txBody>
                    <a:bodyPr/>
                    <a:lstStyle/>
                    <a:p>
                      <a:r>
                        <a:rPr lang="es-VE" dirty="0" smtClean="0"/>
                        <a:t>Formulario de meta</a:t>
                      </a:r>
                      <a:endParaRPr lang="es-V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VE" dirty="0" smtClean="0"/>
                        <a:t>Estadísticas, resumen, esfuerzo</a:t>
                      </a:r>
                      <a:r>
                        <a:rPr lang="es-VE" baseline="0" dirty="0" smtClean="0"/>
                        <a:t> por categoría, racha</a:t>
                      </a:r>
                      <a:endParaRPr lang="es-VE" dirty="0"/>
                    </a:p>
                  </a:txBody>
                  <a:tcPr/>
                </a:tc>
              </a:tr>
              <a:tr h="556158">
                <a:tc>
                  <a:txBody>
                    <a:bodyPr/>
                    <a:lstStyle/>
                    <a:p>
                      <a:r>
                        <a:rPr lang="es-VE" dirty="0" smtClean="0"/>
                        <a:t>Selección de ejercicios para rutina manual</a:t>
                      </a:r>
                      <a:endParaRPr lang="es-V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VE" dirty="0" err="1" smtClean="0"/>
                        <a:t>Analisis</a:t>
                      </a:r>
                      <a:r>
                        <a:rPr lang="es-VE" dirty="0" smtClean="0"/>
                        <a:t> con IA</a:t>
                      </a:r>
                      <a:endParaRPr lang="es-VE" dirty="0"/>
                    </a:p>
                  </a:txBody>
                  <a:tcPr/>
                </a:tc>
              </a:tr>
              <a:tr h="556158">
                <a:tc>
                  <a:txBody>
                    <a:bodyPr/>
                    <a:lstStyle/>
                    <a:p>
                      <a:r>
                        <a:rPr lang="es-VE" dirty="0" smtClean="0"/>
                        <a:t>Valoración de esfuerzo</a:t>
                      </a:r>
                      <a:endParaRPr lang="es-V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VE" dirty="0" smtClean="0"/>
                        <a:t>Imagen PNG</a:t>
                      </a:r>
                      <a:r>
                        <a:rPr lang="es-VE" baseline="0" dirty="0" smtClean="0"/>
                        <a:t> de progreso para compartir</a:t>
                      </a:r>
                      <a:endParaRPr lang="es-VE" dirty="0"/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575874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/>
          <p:cNvSpPr/>
          <p:nvPr/>
        </p:nvSpPr>
        <p:spPr>
          <a:xfrm>
            <a:off x="0" y="0"/>
            <a:ext cx="12192000" cy="503434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PROYECTO FINAL</a:t>
            </a:r>
            <a:endParaRPr lang="es-VE" sz="2400" dirty="0"/>
          </a:p>
        </p:txBody>
      </p:sp>
      <p:sp>
        <p:nvSpPr>
          <p:cNvPr id="3" name="Rectángulo 2"/>
          <p:cNvSpPr/>
          <p:nvPr/>
        </p:nvSpPr>
        <p:spPr>
          <a:xfrm>
            <a:off x="0" y="503434"/>
            <a:ext cx="12192000" cy="554804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ARQUITECTURA DEL SISTEMA</a:t>
            </a:r>
            <a:endParaRPr lang="es-VE" sz="2400" dirty="0"/>
          </a:p>
        </p:txBody>
      </p:sp>
      <p:sp>
        <p:nvSpPr>
          <p:cNvPr id="7" name="Rectangle 2"/>
          <p:cNvSpPr>
            <a:spLocks noChangeArrowheads="1"/>
          </p:cNvSpPr>
          <p:nvPr/>
        </p:nvSpPr>
        <p:spPr bwMode="auto">
          <a:xfrm>
            <a:off x="376843" y="1230477"/>
            <a:ext cx="11438314" cy="524759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s-VE" altLang="es-VE" sz="160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Presentacion</a:t>
            </a:r>
            <a:r>
              <a:rPr lang="es-VE" altLang="es-VE" sz="16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VE" altLang="es-VE" sz="1600" b="1" dirty="0" smtClean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s-VE" altLang="es-VE" sz="1600" b="1" dirty="0" err="1" smtClean="0">
                <a:latin typeface="Arial" panose="020B0604020202020204" pitchFamily="34" charset="0"/>
                <a:cs typeface="Arial" panose="020B0604020202020204" pitchFamily="34" charset="0"/>
              </a:rPr>
              <a:t>Frontend</a:t>
            </a:r>
            <a:r>
              <a:rPr lang="es-VE" altLang="es-VE" sz="1600" b="1" dirty="0" smtClean="0">
                <a:latin typeface="Arial" panose="020B0604020202020204" pitchFamily="34" charset="0"/>
                <a:cs typeface="Arial" panose="020B0604020202020204" pitchFamily="34" charset="0"/>
              </a:rPr>
              <a:t>):</a:t>
            </a:r>
            <a:endParaRPr kumimoji="0" lang="es-VE" altLang="es-VE" sz="16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s-VE" altLang="es-VE" sz="160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Flet</a:t>
            </a:r>
            <a:r>
              <a:rPr kumimoji="0" lang="es-VE" altLang="es-VE" sz="16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kumimoji="0" lang="es-VE" altLang="es-VE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Cliente de escritorio con interfaz gráfica reactiva desarrollada íntegramente en Python. 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s-VE" altLang="es-VE" sz="16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s-VE" altLang="es-VE" sz="16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API &amp; Lógica (</a:t>
            </a:r>
            <a:r>
              <a:rPr kumimoji="0" lang="es-VE" altLang="es-VE" sz="160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Backend</a:t>
            </a:r>
            <a:r>
              <a:rPr kumimoji="0" lang="es-VE" altLang="es-VE" sz="16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):</a:t>
            </a:r>
            <a:endParaRPr kumimoji="0" lang="es-VE" altLang="es-VE" sz="16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s-VE" altLang="es-VE" sz="160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FastAPI</a:t>
            </a:r>
            <a:r>
              <a:rPr kumimoji="0" lang="es-VE" altLang="es-VE" sz="16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kumimoji="0" lang="es-VE" altLang="es-VE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Arquitectura basada en micro-servicios/</a:t>
            </a:r>
            <a:r>
              <a:rPr kumimoji="0" lang="es-VE" altLang="es-VE" sz="16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routers</a:t>
            </a:r>
            <a:r>
              <a:rPr kumimoji="0" lang="es-VE" altLang="es-VE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organizados por dominio (</a:t>
            </a:r>
            <a:r>
              <a:rPr kumimoji="0" lang="es-VE" altLang="es-VE" sz="16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auth</a:t>
            </a:r>
            <a:r>
              <a:rPr kumimoji="0" lang="es-VE" altLang="es-VE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kumimoji="0" lang="es-VE" altLang="es-VE" sz="16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routines</a:t>
            </a:r>
            <a:r>
              <a:rPr kumimoji="0" lang="es-VE" altLang="es-VE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kumimoji="0" lang="es-VE" altLang="es-VE" sz="16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exercises</a:t>
            </a:r>
            <a:r>
              <a:rPr kumimoji="0" lang="es-VE" altLang="es-VE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kumimoji="0" lang="es-VE" altLang="es-VE" sz="16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estadisticas</a:t>
            </a:r>
            <a:r>
              <a:rPr kumimoji="0" lang="es-VE" altLang="es-VE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). 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s-VE" altLang="es-VE" sz="16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s-VE" altLang="es-VE" sz="16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Servicios Core:</a:t>
            </a:r>
            <a:endParaRPr kumimoji="0" lang="es-VE" altLang="es-VE" sz="16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200150" lvl="2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s-VE" altLang="es-VE" sz="16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AuthService</a:t>
            </a:r>
            <a:r>
              <a:rPr kumimoji="0" lang="es-VE" altLang="es-VE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: Gestión de autenticación y </a:t>
            </a:r>
            <a:r>
              <a:rPr kumimoji="0" lang="es-VE" altLang="es-VE" sz="16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tokens</a:t>
            </a:r>
            <a:r>
              <a:rPr kumimoji="0" lang="es-VE" altLang="es-VE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</a:p>
          <a:p>
            <a:pPr marL="1200150" lvl="2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s-VE" altLang="es-VE" sz="16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IAService</a:t>
            </a:r>
            <a:r>
              <a:rPr kumimoji="0" lang="es-VE" altLang="es-VE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: Orquestación y lógica del motor de recomendaciones. </a:t>
            </a:r>
          </a:p>
          <a:p>
            <a:pPr marL="1200150" lvl="2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s-VE" altLang="es-VE" sz="16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Logger</a:t>
            </a:r>
            <a:r>
              <a:rPr kumimoji="0" lang="es-VE" altLang="es-VE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: Sistema centralizado de auditoría y registros en archivo local. </a:t>
            </a:r>
          </a:p>
          <a:p>
            <a:pPr lvl="2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s-VE" altLang="es-VE" sz="16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s-VE" altLang="es-VE" sz="16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Base de datos: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s-VE" altLang="es-VE" sz="1600" b="1" dirty="0" err="1">
                <a:latin typeface="Arial" panose="020B0604020202020204" pitchFamily="34" charset="0"/>
                <a:cs typeface="Arial" panose="020B0604020202020204" pitchFamily="34" charset="0"/>
              </a:rPr>
              <a:t>SQLite</a:t>
            </a:r>
            <a:r>
              <a:rPr lang="es-VE" altLang="es-VE" sz="1600" b="1" dirty="0">
                <a:latin typeface="Arial" panose="020B0604020202020204" pitchFamily="34" charset="0"/>
                <a:cs typeface="Arial" panose="020B0604020202020204" pitchFamily="34" charset="0"/>
              </a:rPr>
              <a:t> local:</a:t>
            </a:r>
            <a:r>
              <a:rPr lang="es-VE" altLang="es-VE" sz="1600" dirty="0">
                <a:latin typeface="Arial" panose="020B0604020202020204" pitchFamily="34" charset="0"/>
                <a:cs typeface="Arial" panose="020B0604020202020204" pitchFamily="34" charset="0"/>
              </a:rPr>
              <a:t> Almacenamiento rápido para el funcionamiento en modo offline.</a:t>
            </a:r>
            <a:endParaRPr kumimoji="0" lang="es-VE" altLang="es-VE" sz="16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s-VE" altLang="es-VE" sz="160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SQLAlchemy</a:t>
            </a:r>
            <a:r>
              <a:rPr kumimoji="0" lang="es-VE" altLang="es-VE" sz="16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kumimoji="0" lang="es-VE" altLang="es-VE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ORM para el mapeo objeto-relacional. 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s-VE" altLang="es-VE" sz="16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s-VE" altLang="es-VE" sz="16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Inteligencia Artificial Externa:</a:t>
            </a:r>
            <a:endParaRPr kumimoji="0" lang="es-VE" altLang="es-VE" sz="16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s-VE" altLang="es-VE" sz="16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Google </a:t>
            </a:r>
            <a:r>
              <a:rPr kumimoji="0" lang="es-VE" altLang="es-VE" sz="160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Gemini</a:t>
            </a:r>
            <a:r>
              <a:rPr kumimoji="0" lang="es-VE" altLang="es-VE" sz="16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kumimoji="0" lang="es-VE" altLang="es-VE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Agente generativo para la creación automática de rutinas personalizadas e informes de avance. 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s-VE" altLang="es-VE" sz="160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Fallback</a:t>
            </a:r>
            <a:r>
              <a:rPr kumimoji="0" lang="es-VE" altLang="es-VE" sz="16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Heurístico:</a:t>
            </a:r>
            <a:r>
              <a:rPr kumimoji="0" lang="es-VE" altLang="es-VE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Algoritmo secundario local que garantiza la generación de rutinas de contingencia en caso de fallas de conexión o límites de API.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VE" altLang="es-VE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40814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/>
          <p:cNvSpPr/>
          <p:nvPr/>
        </p:nvSpPr>
        <p:spPr>
          <a:xfrm>
            <a:off x="0" y="0"/>
            <a:ext cx="12192000" cy="503434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PROYECTO FINAL</a:t>
            </a:r>
            <a:endParaRPr lang="es-VE" sz="2400" dirty="0"/>
          </a:p>
        </p:txBody>
      </p:sp>
      <p:sp>
        <p:nvSpPr>
          <p:cNvPr id="3" name="Rectángulo 2"/>
          <p:cNvSpPr/>
          <p:nvPr/>
        </p:nvSpPr>
        <p:spPr>
          <a:xfrm>
            <a:off x="0" y="503434"/>
            <a:ext cx="12192000" cy="554804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PLAN DE MANTENIMIENTO</a:t>
            </a:r>
            <a:endParaRPr lang="es-VE" sz="2400" dirty="0"/>
          </a:p>
        </p:txBody>
      </p:sp>
      <p:graphicFrame>
        <p:nvGraphicFramePr>
          <p:cNvPr id="5" name="Tabla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0270224"/>
              </p:ext>
            </p:extLst>
          </p:nvPr>
        </p:nvGraphicFramePr>
        <p:xfrm>
          <a:off x="839582" y="1958263"/>
          <a:ext cx="10673544" cy="34319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8386"/>
                <a:gridCol w="2668386"/>
                <a:gridCol w="2668386"/>
                <a:gridCol w="2668386"/>
              </a:tblGrid>
              <a:tr h="688764">
                <a:tc>
                  <a:txBody>
                    <a:bodyPr/>
                    <a:lstStyle/>
                    <a:p>
                      <a:r>
                        <a:rPr lang="es-VE" dirty="0" smtClean="0"/>
                        <a:t>Correctivo</a:t>
                      </a:r>
                      <a:endParaRPr lang="es-V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VE" dirty="0" smtClean="0"/>
                        <a:t>Adaptativo</a:t>
                      </a:r>
                      <a:endParaRPr lang="es-V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VE" dirty="0" smtClean="0"/>
                        <a:t>Perfectivo</a:t>
                      </a:r>
                      <a:endParaRPr lang="es-V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VE" dirty="0" smtClean="0"/>
                        <a:t>Preventivo</a:t>
                      </a:r>
                      <a:endParaRPr lang="es-VE" dirty="0"/>
                    </a:p>
                  </a:txBody>
                  <a:tcPr/>
                </a:tc>
              </a:tr>
              <a:tr h="688764">
                <a:tc>
                  <a:txBody>
                    <a:bodyPr/>
                    <a:lstStyle/>
                    <a:p>
                      <a:r>
                        <a:rPr lang="es-MX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Corrección del bug de cálculo de racha</a:t>
                      </a:r>
                      <a:endParaRPr lang="es-V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Integración con Google </a:t>
                      </a:r>
                      <a:r>
                        <a:rPr lang="es-MX" sz="1800" b="0" i="0" kern="1200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Gemini</a:t>
                      </a:r>
                      <a:r>
                        <a:rPr lang="es-MX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y detección dinámica de modelos.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VE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Optimización de </a:t>
                      </a:r>
                      <a:r>
                        <a:rPr lang="es-VE" dirty="0" smtClean="0"/>
                        <a:t>database.py</a:t>
                      </a:r>
                      <a:endParaRPr lang="es-V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VE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Limpieza final de código</a:t>
                      </a:r>
                      <a:endParaRPr lang="es-VE" dirty="0"/>
                    </a:p>
                  </a:txBody>
                  <a:tcPr/>
                </a:tc>
              </a:tr>
              <a:tr h="688764">
                <a:tc>
                  <a:txBody>
                    <a:bodyPr/>
                    <a:lstStyle/>
                    <a:p>
                      <a:r>
                        <a:rPr lang="es-MX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Corrección del botón "Crear Rutina" que no se habilitaba.</a:t>
                      </a:r>
                      <a:endParaRPr lang="es-MX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Ampliación de la categoría "Pase" con 5 ejercicios.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V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VE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Documentación interna del código.</a:t>
                      </a:r>
                    </a:p>
                    <a:p>
                      <a:endParaRPr lang="es-VE" dirty="0"/>
                    </a:p>
                  </a:txBody>
                  <a:tcPr/>
                </a:tc>
              </a:tr>
              <a:tr h="6887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Corrección del </a:t>
                      </a:r>
                      <a:r>
                        <a:rPr lang="es-MX" sz="1800" b="0" i="0" kern="1200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layout</a:t>
                      </a:r>
                      <a:r>
                        <a:rPr lang="es-MX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de botones que se solapaban.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Actualización del </a:t>
                      </a:r>
                      <a:r>
                        <a:rPr lang="es-MX" sz="1800" b="0" i="0" kern="1200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prompt</a:t>
                      </a:r>
                      <a:r>
                        <a:rPr lang="es-MX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de IA para incluir la nueva categoría.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V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VE" dirty="0"/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3250268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/>
          <p:cNvSpPr/>
          <p:nvPr/>
        </p:nvSpPr>
        <p:spPr>
          <a:xfrm>
            <a:off x="0" y="0"/>
            <a:ext cx="12192000" cy="503434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PROYECTO FINAL</a:t>
            </a:r>
            <a:endParaRPr lang="es-VE" sz="2400" dirty="0"/>
          </a:p>
        </p:txBody>
      </p:sp>
      <p:sp>
        <p:nvSpPr>
          <p:cNvPr id="3" name="Rectángulo 2"/>
          <p:cNvSpPr/>
          <p:nvPr/>
        </p:nvSpPr>
        <p:spPr>
          <a:xfrm>
            <a:off x="0" y="503434"/>
            <a:ext cx="12192000" cy="554804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CONCLUSIONES Y RECOMENDACIONES</a:t>
            </a:r>
            <a:endParaRPr lang="es-VE" sz="2400" dirty="0"/>
          </a:p>
        </p:txBody>
      </p:sp>
      <p:sp>
        <p:nvSpPr>
          <p:cNvPr id="20" name="Rounded Rectangle 3"/>
          <p:cNvSpPr/>
          <p:nvPr/>
        </p:nvSpPr>
        <p:spPr>
          <a:xfrm>
            <a:off x="415637" y="2723257"/>
            <a:ext cx="5527964" cy="3162154"/>
          </a:xfrm>
          <a:prstGeom prst="roundRect">
            <a:avLst>
              <a:gd name="adj" fmla="val 7885"/>
            </a:avLst>
          </a:prstGeom>
          <a:solidFill>
            <a:srgbClr val="232B3D"/>
          </a:solidFill>
          <a:ln w="9525">
            <a:solidFill>
              <a:srgbClr val="2E36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4"/>
          <p:cNvSpPr/>
          <p:nvPr/>
        </p:nvSpPr>
        <p:spPr>
          <a:xfrm>
            <a:off x="6225348" y="2723257"/>
            <a:ext cx="5334000" cy="3162154"/>
          </a:xfrm>
          <a:prstGeom prst="roundRect">
            <a:avLst>
              <a:gd name="adj" fmla="val 7885"/>
            </a:avLst>
          </a:prstGeom>
          <a:solidFill>
            <a:srgbClr val="232B3D"/>
          </a:solidFill>
          <a:ln w="9525">
            <a:solidFill>
              <a:srgbClr val="2E36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pic>
        <p:nvPicPr>
          <p:cNvPr id="22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886" y="2999481"/>
            <a:ext cx="236239" cy="265769"/>
          </a:xfrm>
          <a:prstGeom prst="rect">
            <a:avLst/>
          </a:prstGeom>
        </p:spPr>
      </p:pic>
      <p:pic>
        <p:nvPicPr>
          <p:cNvPr id="23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6525" y="2999482"/>
            <a:ext cx="133350" cy="171450"/>
          </a:xfrm>
          <a:prstGeom prst="rect">
            <a:avLst/>
          </a:prstGeom>
        </p:spPr>
      </p:pic>
      <p:sp>
        <p:nvSpPr>
          <p:cNvPr id="24" name="TextBox 12"/>
          <p:cNvSpPr txBox="1"/>
          <p:nvPr/>
        </p:nvSpPr>
        <p:spPr>
          <a:xfrm>
            <a:off x="882005" y="3018438"/>
            <a:ext cx="1744817" cy="207749"/>
          </a:xfrm>
          <a:prstGeom prst="rect">
            <a:avLst/>
          </a:prstGeom>
          <a:noFill/>
        </p:spPr>
        <p:txBody>
          <a:bodyPr wrap="square" lIns="152400" tIns="0" rIns="0" bIns="0" anchor="t">
            <a:spAutoFit/>
          </a:bodyPr>
          <a:lstStyle/>
          <a:p>
            <a:pPr algn="l"/>
            <a:r>
              <a:rPr sz="1350" b="1" i="0" u="none" dirty="0" err="1">
                <a:solidFill>
                  <a:srgbClr val="38BDF8"/>
                </a:solidFill>
                <a:latin typeface="Plus Jakarta Sans"/>
              </a:rPr>
              <a:t>Conclusiones</a:t>
            </a:r>
            <a:endParaRPr sz="1350" b="1" i="0" u="none" dirty="0">
              <a:solidFill>
                <a:srgbClr val="38BDF8"/>
              </a:solidFill>
              <a:latin typeface="Plus Jakarta Sans"/>
            </a:endParaRPr>
          </a:p>
        </p:txBody>
      </p:sp>
      <p:sp>
        <p:nvSpPr>
          <p:cNvPr id="25" name="TextBox 13"/>
          <p:cNvSpPr txBox="1"/>
          <p:nvPr/>
        </p:nvSpPr>
        <p:spPr>
          <a:xfrm>
            <a:off x="590204" y="3294756"/>
            <a:ext cx="5210521" cy="22006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s-MX" sz="13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 presento el desarrollo de un sistema completo de gestión de rutinas de baloncesto con POO/IA, se implemento una arquitectura en capas compuesta por la librería </a:t>
            </a:r>
            <a:r>
              <a:rPr lang="es-MX" sz="1300" dirty="0" err="1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Flet</a:t>
            </a:r>
            <a:r>
              <a:rPr lang="es-MX" sz="13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de Python como </a:t>
            </a:r>
            <a:r>
              <a:rPr lang="es-MX" sz="1300" dirty="0" err="1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frotend</a:t>
            </a:r>
            <a:r>
              <a:rPr lang="es-MX" sz="13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Python, </a:t>
            </a:r>
            <a:r>
              <a:rPr lang="es-MX" sz="1300" dirty="0" err="1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FastAPI</a:t>
            </a:r>
            <a:r>
              <a:rPr lang="es-MX" sz="13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s-MX" sz="1300" dirty="0" err="1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SQLAchemy</a:t>
            </a:r>
            <a:r>
              <a:rPr lang="es-MX" sz="13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como </a:t>
            </a:r>
            <a:r>
              <a:rPr lang="es-MX" sz="1300" dirty="0" err="1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backend</a:t>
            </a:r>
            <a:r>
              <a:rPr lang="es-MX" sz="13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y Google </a:t>
            </a:r>
            <a:r>
              <a:rPr lang="es-MX" sz="1300" dirty="0" err="1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Gemini</a:t>
            </a:r>
            <a:r>
              <a:rPr lang="es-MX" sz="13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con </a:t>
            </a:r>
            <a:r>
              <a:rPr lang="es-MX" sz="1300" dirty="0" err="1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fallback</a:t>
            </a:r>
            <a:r>
              <a:rPr lang="es-MX" sz="13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como motor de recomendaciones y análisis esto con el motivo de garantizar la disponibilidad del servicio ante fallos de la IA, la metodología </a:t>
            </a:r>
            <a:r>
              <a:rPr lang="es-MX" sz="1300" dirty="0" err="1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Kanban</a:t>
            </a:r>
            <a:r>
              <a:rPr lang="es-MX" sz="13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300" dirty="0" err="1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permitio</a:t>
            </a:r>
            <a:r>
              <a:rPr lang="es-MX" sz="13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gestionar el proyecto sin saturación de tareas mediante </a:t>
            </a:r>
            <a:r>
              <a:rPr lang="es-MX" sz="1300" dirty="0" err="1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sprints</a:t>
            </a:r>
            <a:r>
              <a:rPr lang="es-MX" sz="13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semanales cerrados, los 12 riesgos identificados fueron mitigados con estrategias concretas que aseguraron la entrega funcional del sistema dentro de las fechas previstas</a:t>
            </a:r>
            <a:endParaRPr lang="es-VE" sz="13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TextBox 15"/>
          <p:cNvSpPr txBox="1"/>
          <p:nvPr/>
        </p:nvSpPr>
        <p:spPr>
          <a:xfrm>
            <a:off x="6486525" y="3294757"/>
            <a:ext cx="4953000" cy="174406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71450" indent="-171450">
              <a:lnSpc>
                <a:spcPts val="1679"/>
              </a:lnSpc>
              <a:buFont typeface="Arial" panose="020B0604020202020204" pitchFamily="34" charset="0"/>
              <a:buChar char="•"/>
            </a:pPr>
            <a:r>
              <a:rPr lang="es-MX" sz="13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Implementar sincronización automática entre </a:t>
            </a:r>
            <a:r>
              <a:rPr lang="es-MX" sz="13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SQLite</a:t>
            </a:r>
            <a:r>
              <a:rPr lang="es-MX" sz="13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s-MX" sz="13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MySQL</a:t>
            </a:r>
            <a:r>
              <a:rPr lang="es-MX" sz="13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3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Aiven</a:t>
            </a:r>
            <a:r>
              <a:rPr lang="es-MX" sz="13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para escenarios </a:t>
            </a:r>
            <a:r>
              <a:rPr lang="es-MX" sz="13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multidispositivo</a:t>
            </a:r>
            <a:r>
              <a:rPr lang="es-MX" sz="1300" dirty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171450" indent="-171450">
              <a:lnSpc>
                <a:spcPts val="1679"/>
              </a:lnSpc>
              <a:buFont typeface="Arial" panose="020B0604020202020204" pitchFamily="34" charset="0"/>
              <a:buChar char="•"/>
            </a:pPr>
            <a:r>
              <a:rPr lang="es-VE" sz="13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Incorporar notificaciones o recordatorios automáticos de entrenamiento</a:t>
            </a:r>
            <a:r>
              <a:rPr lang="es-VE" sz="1300" dirty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171450" indent="-171450">
              <a:lnSpc>
                <a:spcPts val="1679"/>
              </a:lnSpc>
              <a:buFont typeface="Arial" panose="020B0604020202020204" pitchFamily="34" charset="0"/>
              <a:buChar char="•"/>
            </a:pPr>
            <a:r>
              <a:rPr lang="es-VE" sz="13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incorporar módulos de visión por </a:t>
            </a:r>
            <a:r>
              <a:rPr lang="es-VE" sz="1300" dirty="0" err="1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camara</a:t>
            </a:r>
            <a:r>
              <a:rPr lang="es-VE" sz="1300" dirty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VE" sz="13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para análisis automático</a:t>
            </a:r>
          </a:p>
          <a:p>
            <a:pPr marL="171450" indent="-171450">
              <a:lnSpc>
                <a:spcPts val="1679"/>
              </a:lnSpc>
              <a:buFont typeface="Arial" panose="020B0604020202020204" pitchFamily="34" charset="0"/>
              <a:buChar char="•"/>
            </a:pPr>
            <a:endParaRPr lang="es-MX" sz="13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indent="-171450" algn="l">
              <a:lnSpc>
                <a:spcPts val="1679"/>
              </a:lnSpc>
              <a:buFont typeface="Arial" panose="020B0604020202020204" pitchFamily="34" charset="0"/>
              <a:buChar char="•"/>
            </a:pPr>
            <a:endParaRPr sz="1300" b="0" i="0" u="none" dirty="0">
              <a:solidFill>
                <a:srgbClr val="CBD5E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Rectángulo 26"/>
          <p:cNvSpPr/>
          <p:nvPr/>
        </p:nvSpPr>
        <p:spPr>
          <a:xfrm>
            <a:off x="6646975" y="2923021"/>
            <a:ext cx="1713931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VE" sz="1350" b="1" dirty="0" smtClean="0">
                <a:solidFill>
                  <a:srgbClr val="00B050"/>
                </a:solidFill>
                <a:latin typeface="Plus Jakarta Sans"/>
              </a:rPr>
              <a:t>Recomendaciones</a:t>
            </a:r>
            <a:endParaRPr lang="es-VE" sz="1350" b="1" dirty="0">
              <a:solidFill>
                <a:srgbClr val="00B050"/>
              </a:solidFill>
              <a:latin typeface="Plus Jakarta Sans"/>
            </a:endParaRPr>
          </a:p>
        </p:txBody>
      </p:sp>
    </p:spTree>
    <p:extLst>
      <p:ext uri="{BB962C8B-B14F-4D97-AF65-F5344CB8AC3E}">
        <p14:creationId xmlns:p14="http://schemas.microsoft.com/office/powerpoint/2010/main" val="26355130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245</TotalTime>
  <Words>2150</Words>
  <Application>Microsoft Office PowerPoint</Application>
  <PresentationFormat>Panorámica</PresentationFormat>
  <Paragraphs>320</Paragraphs>
  <Slides>21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21</vt:i4>
      </vt:variant>
    </vt:vector>
  </HeadingPairs>
  <TitlesOfParts>
    <vt:vector size="29" baseType="lpstr">
      <vt:lpstr>Arial</vt:lpstr>
      <vt:lpstr>Calibri</vt:lpstr>
      <vt:lpstr>Calibri Light</vt:lpstr>
      <vt:lpstr>Plus Jakarta Sans</vt:lpstr>
      <vt:lpstr>Roboto</vt:lpstr>
      <vt:lpstr>Times New Roman</vt:lpstr>
      <vt:lpstr>Verdana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Yaskelly Yedra</dc:creator>
  <cp:lastModifiedBy>Cuenta Microsoft</cp:lastModifiedBy>
  <cp:revision>38</cp:revision>
  <dcterms:created xsi:type="dcterms:W3CDTF">2024-09-12T15:26:05Z</dcterms:created>
  <dcterms:modified xsi:type="dcterms:W3CDTF">2026-10-05T17:23:33Z</dcterms:modified>
</cp:coreProperties>
</file>