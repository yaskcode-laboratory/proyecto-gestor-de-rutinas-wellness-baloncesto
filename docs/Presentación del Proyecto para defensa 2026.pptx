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79" r:id="rId5"/>
    <p:sldId id="280" r:id="rId6"/>
    <p:sldId id="277" r:id="rId7"/>
    <p:sldId id="282" r:id="rId8"/>
    <p:sldId id="289" r:id="rId9"/>
    <p:sldId id="286" r:id="rId10"/>
    <p:sldId id="287" r:id="rId11"/>
    <p:sldId id="288" r:id="rId12"/>
    <p:sldId id="266" r:id="rId13"/>
    <p:sldId id="281" r:id="rId14"/>
    <p:sldId id="274" r:id="rId15"/>
    <p:sldId id="275" r:id="rId16"/>
    <p:sldId id="284" r:id="rId17"/>
    <p:sldId id="270" r:id="rId18"/>
    <p:sldId id="276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14763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9595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5261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4837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360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5959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7703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15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6318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566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648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B575-880D-49D2-8A82-DE0618B8EED9}" type="datetimeFigureOut">
              <a:rPr lang="es-VE" smtClean="0"/>
              <a:t>29/9/2026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5367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65" y="282653"/>
            <a:ext cx="1020690" cy="124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3214688" y="259255"/>
            <a:ext cx="51292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 DEL ZULIA           </a:t>
            </a:r>
            <a:endParaRPr lang="es-VE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FACULTAD</a:t>
            </a:r>
            <a:r>
              <a:rPr lang="es-VE" sz="2000" spc="-15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</a:t>
            </a:r>
            <a:r>
              <a:rPr lang="es-VE" sz="2000" spc="-3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es-VE" sz="2000" spc="-2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CIENCIAS</a:t>
            </a:r>
          </a:p>
          <a:p>
            <a:pPr algn="ctr"/>
            <a:r>
              <a:rPr lang="es-VE" sz="2000" dirty="0" smtClean="0"/>
              <a:t>DIVISIÓN DE PROGRAMAS ESPECIALES</a:t>
            </a:r>
            <a:endParaRPr lang="en-US" sz="2000" dirty="0" smtClean="0"/>
          </a:p>
          <a:p>
            <a:pPr algn="ctr"/>
            <a:r>
              <a:rPr lang="es-VE" sz="2000" dirty="0" smtClean="0"/>
              <a:t>LICENCIATURA EN COMPUTACIÓN</a:t>
            </a:r>
            <a:endParaRPr lang="es-VE" sz="2000" dirty="0"/>
          </a:p>
        </p:txBody>
      </p:sp>
      <p:sp>
        <p:nvSpPr>
          <p:cNvPr id="8" name="Rectángulo 7"/>
          <p:cNvSpPr/>
          <p:nvPr/>
        </p:nvSpPr>
        <p:spPr>
          <a:xfrm>
            <a:off x="1807593" y="2190371"/>
            <a:ext cx="85119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INGENIERÍA DE SOFTWARE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264097" y="3783005"/>
            <a:ext cx="86725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sz="2800" dirty="0" smtClean="0"/>
              <a:t>SISTEMA GESTOR DE RUTINAS WELLNESS DE BALONCESTO</a:t>
            </a:r>
            <a:endParaRPr lang="es-VE" sz="2800" dirty="0"/>
          </a:p>
        </p:txBody>
      </p:sp>
      <p:sp>
        <p:nvSpPr>
          <p:cNvPr id="10" name="Rectángulo 9"/>
          <p:cNvSpPr/>
          <p:nvPr/>
        </p:nvSpPr>
        <p:spPr>
          <a:xfrm>
            <a:off x="5640411" y="6199063"/>
            <a:ext cx="15779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PERIODO</a:t>
            </a:r>
            <a:r>
              <a:rPr lang="es-VE" sz="1600" spc="-4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1600" spc="-4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- 2026</a:t>
            </a:r>
            <a:endParaRPr lang="es-VE" sz="1600" dirty="0"/>
          </a:p>
        </p:txBody>
      </p:sp>
      <p:sp>
        <p:nvSpPr>
          <p:cNvPr id="9" name="Rectángulo 8"/>
          <p:cNvSpPr/>
          <p:nvPr/>
        </p:nvSpPr>
        <p:spPr>
          <a:xfrm>
            <a:off x="21869" y="2926939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PROYECTO FINAL</a:t>
            </a:r>
            <a:endParaRPr lang="es-VE" sz="2800" dirty="0"/>
          </a:p>
        </p:txBody>
      </p:sp>
      <p:sp>
        <p:nvSpPr>
          <p:cNvPr id="11" name="Rectángulo 10"/>
          <p:cNvSpPr/>
          <p:nvPr/>
        </p:nvSpPr>
        <p:spPr>
          <a:xfrm>
            <a:off x="8824264" y="5442419"/>
            <a:ext cx="16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Presentado por</a:t>
            </a:r>
            <a:endParaRPr lang="es-VE" b="1" dirty="0"/>
          </a:p>
        </p:txBody>
      </p:sp>
      <p:sp>
        <p:nvSpPr>
          <p:cNvPr id="12" name="Rectángulo 11"/>
          <p:cNvSpPr/>
          <p:nvPr/>
        </p:nvSpPr>
        <p:spPr>
          <a:xfrm>
            <a:off x="9493381" y="5795051"/>
            <a:ext cx="1357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Yi</a:t>
            </a:r>
            <a:r>
              <a:rPr 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VE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Victor</a:t>
            </a:r>
            <a:r>
              <a:rPr 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V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901" y="186362"/>
            <a:ext cx="1375526" cy="13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AGENDA</a:t>
            </a:r>
            <a:endParaRPr lang="es-VE" sz="2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883767" y="1561672"/>
            <a:ext cx="1032387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Descripción del Proyecto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Estado del Arte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Metodología de Desarrollo de SW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Planificación del Proyecto de SW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Riesgos del Proyecto de SW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/>
              <a:t>Tecnologías y Herramientas de Desarrollo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Diagrama de Casos de Uso (</a:t>
            </a:r>
            <a:r>
              <a:rPr lang="es-VE" sz="2400" dirty="0" err="1" smtClean="0"/>
              <a:t>definción</a:t>
            </a:r>
            <a:r>
              <a:rPr lang="es-VE" sz="2400" dirty="0" smtClean="0"/>
              <a:t> de requisitos)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Diagrama de Clases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Base de Datos 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Interfaces de Entrada / Salida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Arquitectura del Sistema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Demostración de Pruebas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400" dirty="0" smtClean="0"/>
              <a:t>Plan de Mantenimiento</a:t>
            </a:r>
          </a:p>
        </p:txBody>
      </p:sp>
    </p:spTree>
    <p:extLst>
      <p:ext uri="{BB962C8B-B14F-4D97-AF65-F5344CB8AC3E}">
        <p14:creationId xmlns:p14="http://schemas.microsoft.com/office/powerpoint/2010/main" val="256379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DESCRIPCIÓN DEL PROYECTO</a:t>
            </a:r>
            <a:endParaRPr lang="es-VE" sz="2400" dirty="0"/>
          </a:p>
        </p:txBody>
      </p:sp>
      <p:sp>
        <p:nvSpPr>
          <p:cNvPr id="6" name="Rounded Rectangle 2"/>
          <p:cNvSpPr/>
          <p:nvPr/>
        </p:nvSpPr>
        <p:spPr>
          <a:xfrm>
            <a:off x="6210300" y="2372617"/>
            <a:ext cx="5524500" cy="3181350"/>
          </a:xfrm>
          <a:prstGeom prst="roundRect">
            <a:avLst>
              <a:gd name="adj" fmla="val 479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/>
          <p:cNvSpPr/>
          <p:nvPr/>
        </p:nvSpPr>
        <p:spPr>
          <a:xfrm>
            <a:off x="457200" y="1767780"/>
            <a:ext cx="5524500" cy="1433512"/>
          </a:xfrm>
          <a:prstGeom prst="roundRect">
            <a:avLst>
              <a:gd name="adj" fmla="val 797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4"/>
          <p:cNvSpPr/>
          <p:nvPr/>
        </p:nvSpPr>
        <p:spPr>
          <a:xfrm>
            <a:off x="457200" y="3353692"/>
            <a:ext cx="5524500" cy="1433512"/>
          </a:xfrm>
          <a:prstGeom prst="roundRect">
            <a:avLst>
              <a:gd name="adj" fmla="val 797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5"/>
          <p:cNvSpPr/>
          <p:nvPr/>
        </p:nvSpPr>
        <p:spPr>
          <a:xfrm>
            <a:off x="457200" y="4939605"/>
            <a:ext cx="5524500" cy="1219200"/>
          </a:xfrm>
          <a:prstGeom prst="roundRect">
            <a:avLst>
              <a:gd name="adj" fmla="val 9375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6"/>
          <p:cNvSpPr/>
          <p:nvPr/>
        </p:nvSpPr>
        <p:spPr>
          <a:xfrm>
            <a:off x="6515100" y="3029842"/>
            <a:ext cx="49149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7"/>
          <p:cNvSpPr/>
          <p:nvPr/>
        </p:nvSpPr>
        <p:spPr>
          <a:xfrm>
            <a:off x="457200" y="3191767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8"/>
          <p:cNvSpPr/>
          <p:nvPr/>
        </p:nvSpPr>
        <p:spPr>
          <a:xfrm>
            <a:off x="457200" y="1767780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9"/>
          <p:cNvSpPr/>
          <p:nvPr/>
        </p:nvSpPr>
        <p:spPr>
          <a:xfrm>
            <a:off x="457200" y="1767780"/>
            <a:ext cx="38100" cy="14335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0"/>
          <p:cNvSpPr/>
          <p:nvPr/>
        </p:nvSpPr>
        <p:spPr>
          <a:xfrm>
            <a:off x="5972175" y="1767780"/>
            <a:ext cx="9525" cy="143351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1"/>
          <p:cNvSpPr/>
          <p:nvPr/>
        </p:nvSpPr>
        <p:spPr>
          <a:xfrm>
            <a:off x="457200" y="4777680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2"/>
          <p:cNvSpPr/>
          <p:nvPr/>
        </p:nvSpPr>
        <p:spPr>
          <a:xfrm>
            <a:off x="457200" y="3353692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3"/>
          <p:cNvSpPr/>
          <p:nvPr/>
        </p:nvSpPr>
        <p:spPr>
          <a:xfrm>
            <a:off x="457200" y="3353692"/>
            <a:ext cx="38100" cy="14335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4"/>
          <p:cNvSpPr/>
          <p:nvPr/>
        </p:nvSpPr>
        <p:spPr>
          <a:xfrm>
            <a:off x="5972175" y="3353692"/>
            <a:ext cx="9525" cy="143351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5"/>
          <p:cNvSpPr/>
          <p:nvPr/>
        </p:nvSpPr>
        <p:spPr>
          <a:xfrm>
            <a:off x="457200" y="6149280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6"/>
          <p:cNvSpPr/>
          <p:nvPr/>
        </p:nvSpPr>
        <p:spPr>
          <a:xfrm>
            <a:off x="457200" y="4939605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17"/>
          <p:cNvSpPr/>
          <p:nvPr/>
        </p:nvSpPr>
        <p:spPr>
          <a:xfrm>
            <a:off x="457200" y="4939605"/>
            <a:ext cx="38100" cy="1219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18"/>
          <p:cNvSpPr/>
          <p:nvPr/>
        </p:nvSpPr>
        <p:spPr>
          <a:xfrm>
            <a:off x="5972175" y="493960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9"/>
          <p:cNvSpPr/>
          <p:nvPr/>
        </p:nvSpPr>
        <p:spPr>
          <a:xfrm>
            <a:off x="6515100" y="323939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0"/>
          <p:cNvSpPr/>
          <p:nvPr/>
        </p:nvSpPr>
        <p:spPr>
          <a:xfrm>
            <a:off x="6515100" y="397281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1"/>
          <p:cNvSpPr/>
          <p:nvPr/>
        </p:nvSpPr>
        <p:spPr>
          <a:xfrm>
            <a:off x="6515100" y="470624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029717"/>
            <a:ext cx="171450" cy="171450"/>
          </a:xfrm>
          <a:prstGeom prst="rect">
            <a:avLst/>
          </a:prstGeom>
        </p:spPr>
      </p:pic>
      <p:pic>
        <p:nvPicPr>
          <p:cNvPr id="27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615630"/>
            <a:ext cx="171450" cy="171450"/>
          </a:xfrm>
          <a:prstGeom prst="rect">
            <a:avLst/>
          </a:prstGeom>
        </p:spPr>
      </p:pic>
      <p:pic>
        <p:nvPicPr>
          <p:cNvPr id="28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5201542"/>
            <a:ext cx="219075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15100" y="2677417"/>
            <a:ext cx="526065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Principales Objetivos del Software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600" y="2005905"/>
            <a:ext cx="6308288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Plataforma Especializada en Baloncesto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00" y="2320230"/>
            <a:ext cx="51149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Sistema de autogestión wellness donde el usuario configura su perfil deportivo (posición, experiencia, biometría) y recibe rutinas optimizadas sin intermediarios humanos.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" y="3591817"/>
            <a:ext cx="6308288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Motor de IA Generativa &amp; Adaptativa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900" y="3906142"/>
            <a:ext cx="51149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Integración con Gemini IA para procesar el perfil y calibrar progresivamente la intensidad según la valoración de esfuerzo recibida al finalizar cada entrenamiento.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5" y="5177730"/>
            <a:ext cx="6258282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Resiliencia Offline-First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900" y="5492055"/>
            <a:ext cx="5114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Base de datos SQLite local que permite consultar la biblioteca de ejercicios y ejecutar rutinas en zonas con conectividad inestable o nula.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2225" y="323939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2225" y="397281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225" y="470624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00875" y="3272730"/>
            <a:ext cx="45148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Autonomía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completa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para el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jugador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con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recomendaciones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generadas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por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el motor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inteligente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40" name="TextBox 41"/>
          <p:cNvSpPr txBox="1"/>
          <p:nvPr/>
        </p:nvSpPr>
        <p:spPr>
          <a:xfrm>
            <a:off x="7000875" y="3987105"/>
            <a:ext cx="45148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Retroalimentación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post-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entrenamiento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(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escala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1 a 5) para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reajustar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automáticamente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la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sobrecarga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progresiva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41" name="TextBox 43"/>
          <p:cNvSpPr txBox="1"/>
          <p:nvPr/>
        </p:nvSpPr>
        <p:spPr>
          <a:xfrm>
            <a:off x="7000875" y="4706242"/>
            <a:ext cx="45148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Rutina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base de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contingencia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heurística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en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caso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fallas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de red o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indisponibilidad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del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servicio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de IA.</a:t>
            </a:r>
          </a:p>
        </p:txBody>
      </p:sp>
    </p:spTree>
    <p:extLst>
      <p:ext uri="{BB962C8B-B14F-4D97-AF65-F5344CB8AC3E}">
        <p14:creationId xmlns:p14="http://schemas.microsoft.com/office/powerpoint/2010/main" val="232316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ESTADO DEL ARTE</a:t>
            </a:r>
            <a:endParaRPr lang="es-VE" sz="2400" dirty="0"/>
          </a:p>
        </p:txBody>
      </p:sp>
      <p:sp>
        <p:nvSpPr>
          <p:cNvPr id="6" name="Rounded Rectangle 2"/>
          <p:cNvSpPr/>
          <p:nvPr/>
        </p:nvSpPr>
        <p:spPr>
          <a:xfrm>
            <a:off x="457199" y="5832293"/>
            <a:ext cx="11277601" cy="802762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/>
          <p:cNvSpPr/>
          <p:nvPr/>
        </p:nvSpPr>
        <p:spPr>
          <a:xfrm>
            <a:off x="457199" y="3188845"/>
            <a:ext cx="2079473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4"/>
          <p:cNvSpPr/>
          <p:nvPr/>
        </p:nvSpPr>
        <p:spPr>
          <a:xfrm>
            <a:off x="2504479" y="3188845"/>
            <a:ext cx="1665876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5"/>
          <p:cNvSpPr/>
          <p:nvPr/>
        </p:nvSpPr>
        <p:spPr>
          <a:xfrm>
            <a:off x="4144565" y="3188845"/>
            <a:ext cx="1562477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6"/>
          <p:cNvSpPr/>
          <p:nvPr/>
        </p:nvSpPr>
        <p:spPr>
          <a:xfrm>
            <a:off x="5682853" y="3188845"/>
            <a:ext cx="1746298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7"/>
          <p:cNvSpPr/>
          <p:nvPr/>
        </p:nvSpPr>
        <p:spPr>
          <a:xfrm>
            <a:off x="7402115" y="3188845"/>
            <a:ext cx="1528010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8"/>
          <p:cNvSpPr/>
          <p:nvPr/>
        </p:nvSpPr>
        <p:spPr>
          <a:xfrm>
            <a:off x="8906469" y="3188845"/>
            <a:ext cx="2872805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9"/>
          <p:cNvSpPr/>
          <p:nvPr/>
        </p:nvSpPr>
        <p:spPr>
          <a:xfrm>
            <a:off x="457199" y="3522220"/>
            <a:ext cx="2079473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0"/>
          <p:cNvSpPr/>
          <p:nvPr/>
        </p:nvSpPr>
        <p:spPr>
          <a:xfrm>
            <a:off x="2504479" y="3522220"/>
            <a:ext cx="1665876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1"/>
          <p:cNvSpPr/>
          <p:nvPr/>
        </p:nvSpPr>
        <p:spPr>
          <a:xfrm>
            <a:off x="4144565" y="3522220"/>
            <a:ext cx="1562477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2"/>
          <p:cNvSpPr/>
          <p:nvPr/>
        </p:nvSpPr>
        <p:spPr>
          <a:xfrm>
            <a:off x="5682853" y="3522220"/>
            <a:ext cx="1746298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3"/>
          <p:cNvSpPr/>
          <p:nvPr/>
        </p:nvSpPr>
        <p:spPr>
          <a:xfrm>
            <a:off x="7402115" y="3522220"/>
            <a:ext cx="1528010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4"/>
          <p:cNvSpPr/>
          <p:nvPr/>
        </p:nvSpPr>
        <p:spPr>
          <a:xfrm>
            <a:off x="8906469" y="3522220"/>
            <a:ext cx="2872805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5"/>
          <p:cNvSpPr/>
          <p:nvPr/>
        </p:nvSpPr>
        <p:spPr>
          <a:xfrm>
            <a:off x="457199" y="3855595"/>
            <a:ext cx="2079473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6"/>
          <p:cNvSpPr/>
          <p:nvPr/>
        </p:nvSpPr>
        <p:spPr>
          <a:xfrm>
            <a:off x="2504479" y="3855595"/>
            <a:ext cx="1665876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17"/>
          <p:cNvSpPr/>
          <p:nvPr/>
        </p:nvSpPr>
        <p:spPr>
          <a:xfrm>
            <a:off x="4144565" y="3855595"/>
            <a:ext cx="1562477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18"/>
          <p:cNvSpPr/>
          <p:nvPr/>
        </p:nvSpPr>
        <p:spPr>
          <a:xfrm>
            <a:off x="5682853" y="3855595"/>
            <a:ext cx="1746298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19"/>
          <p:cNvSpPr/>
          <p:nvPr/>
        </p:nvSpPr>
        <p:spPr>
          <a:xfrm>
            <a:off x="7402115" y="3855595"/>
            <a:ext cx="1528010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0"/>
          <p:cNvSpPr/>
          <p:nvPr/>
        </p:nvSpPr>
        <p:spPr>
          <a:xfrm>
            <a:off x="8906469" y="3855595"/>
            <a:ext cx="2872805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1"/>
          <p:cNvSpPr/>
          <p:nvPr/>
        </p:nvSpPr>
        <p:spPr>
          <a:xfrm>
            <a:off x="457199" y="4188970"/>
            <a:ext cx="2079473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2"/>
          <p:cNvSpPr/>
          <p:nvPr/>
        </p:nvSpPr>
        <p:spPr>
          <a:xfrm>
            <a:off x="2504479" y="4188970"/>
            <a:ext cx="1665876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3"/>
          <p:cNvSpPr/>
          <p:nvPr/>
        </p:nvSpPr>
        <p:spPr>
          <a:xfrm>
            <a:off x="4144565" y="4188970"/>
            <a:ext cx="1562477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4"/>
          <p:cNvSpPr/>
          <p:nvPr/>
        </p:nvSpPr>
        <p:spPr>
          <a:xfrm>
            <a:off x="5682853" y="4188970"/>
            <a:ext cx="1746298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5"/>
          <p:cNvSpPr/>
          <p:nvPr/>
        </p:nvSpPr>
        <p:spPr>
          <a:xfrm>
            <a:off x="7402115" y="4188970"/>
            <a:ext cx="1528010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6"/>
          <p:cNvSpPr/>
          <p:nvPr/>
        </p:nvSpPr>
        <p:spPr>
          <a:xfrm>
            <a:off x="8906469" y="4188970"/>
            <a:ext cx="2872805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7"/>
          <p:cNvSpPr/>
          <p:nvPr/>
        </p:nvSpPr>
        <p:spPr>
          <a:xfrm>
            <a:off x="457199" y="4522345"/>
            <a:ext cx="2079473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28"/>
          <p:cNvSpPr/>
          <p:nvPr/>
        </p:nvSpPr>
        <p:spPr>
          <a:xfrm>
            <a:off x="2504479" y="4522345"/>
            <a:ext cx="1665876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29"/>
          <p:cNvSpPr/>
          <p:nvPr/>
        </p:nvSpPr>
        <p:spPr>
          <a:xfrm>
            <a:off x="4144565" y="4522345"/>
            <a:ext cx="1562477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0"/>
          <p:cNvSpPr/>
          <p:nvPr/>
        </p:nvSpPr>
        <p:spPr>
          <a:xfrm>
            <a:off x="5682853" y="4522345"/>
            <a:ext cx="1746298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1"/>
          <p:cNvSpPr/>
          <p:nvPr/>
        </p:nvSpPr>
        <p:spPr>
          <a:xfrm>
            <a:off x="7402115" y="4522345"/>
            <a:ext cx="1528010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2"/>
          <p:cNvSpPr/>
          <p:nvPr/>
        </p:nvSpPr>
        <p:spPr>
          <a:xfrm>
            <a:off x="8906469" y="4522345"/>
            <a:ext cx="2872805" cy="505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7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51838"/>
              </p:ext>
            </p:extLst>
          </p:nvPr>
        </p:nvGraphicFramePr>
        <p:xfrm>
          <a:off x="374073" y="2227812"/>
          <a:ext cx="11538067" cy="2643448"/>
        </p:xfrm>
        <a:graphic>
          <a:graphicData uri="http://schemas.openxmlformats.org/drawingml/2006/table">
            <a:tbl>
              <a:tblPr/>
              <a:tblGrid>
                <a:gridCol w="2094563"/>
                <a:gridCol w="1677965"/>
                <a:gridCol w="1573816"/>
                <a:gridCol w="1758971"/>
                <a:gridCol w="1539099"/>
                <a:gridCol w="2893653"/>
              </a:tblGrid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 err="1">
                          <a:solidFill>
                            <a:srgbClr val="FFFFFF"/>
                          </a:solidFill>
                          <a:latin typeface="Plus Jakarta Sans"/>
                        </a:rPr>
                        <a:t>Criterio</a:t>
                      </a:r>
                      <a:endParaRPr sz="975" b="1" i="0" u="none" dirty="0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HomeCourt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Ballogy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SpotBasket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Gym WP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Sistema Propuesto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Tecnología 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Computer Vision 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Detección de tiro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Programas estáticos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Carga progresiva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D4ED8"/>
                          </a:solidFill>
                          <a:latin typeface="Plus Jakarta Sans"/>
                        </a:rPr>
                        <a:t>Gemini 2.5 Pro + Fallback Heurístico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Especialidad Baloncesto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Tiro / Visión real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Drills y evaluación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Gestión academias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General Gimnasio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D4ED8"/>
                          </a:solidFill>
                          <a:latin typeface="Plus Jakarta Sans"/>
                        </a:rPr>
                        <a:t>Wellness + Posición Baloncesto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Modo Offline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Parcial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Sí (Logs)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D4ED8"/>
                          </a:solidFill>
                          <a:latin typeface="Plus Jakarta Sans"/>
                        </a:rPr>
                        <a:t>Sí (Base SQLite + Fallback local)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Calibración Esfuerzo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Biometría Apple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 especificado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Fuerza / Músculo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D4ED8"/>
                          </a:solidFill>
                          <a:latin typeface="Plus Jakarta Sans"/>
                        </a:rPr>
                        <a:t>Ajuste RPE continuo (1 a 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44057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Modelo Económico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$69.99 / año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Freemium / Teams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$39.99 / año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$14.99 / año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1D4ED8"/>
                          </a:solidFill>
                          <a:latin typeface="Plus Jakarta Sans"/>
                        </a:rPr>
                        <a:t>Sin </a:t>
                      </a:r>
                      <a:r>
                        <a:rPr sz="975" b="1" i="0" u="none" dirty="0" err="1">
                          <a:solidFill>
                            <a:srgbClr val="1D4ED8"/>
                          </a:solidFill>
                          <a:latin typeface="Plus Jakarta Sans"/>
                        </a:rPr>
                        <a:t>costo</a:t>
                      </a:r>
                      <a:r>
                        <a:rPr sz="975" b="1" i="0" u="none" dirty="0">
                          <a:solidFill>
                            <a:srgbClr val="1D4ED8"/>
                          </a:solidFill>
                          <a:latin typeface="Plus Jakarta Sans"/>
                        </a:rPr>
                        <a:t> / </a:t>
                      </a:r>
                      <a:r>
                        <a:rPr sz="975" b="1" i="0" u="none" dirty="0" err="1">
                          <a:solidFill>
                            <a:srgbClr val="1D4ED8"/>
                          </a:solidFill>
                          <a:latin typeface="Plus Jakarta Sans"/>
                        </a:rPr>
                        <a:t>Autogestión</a:t>
                      </a:r>
                      <a:r>
                        <a:rPr sz="975" b="1" i="0" u="none" dirty="0">
                          <a:solidFill>
                            <a:srgbClr val="1D4ED8"/>
                          </a:solidFill>
                          <a:latin typeface="Plus Jakarta Sans"/>
                        </a:rPr>
                        <a:t> Local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99556" y="6062224"/>
            <a:ext cx="11087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u="none" dirty="0" err="1">
                <a:solidFill>
                  <a:srgbClr val="475569"/>
                </a:solidFill>
                <a:latin typeface="Plus Jakarta Sans"/>
              </a:rPr>
              <a:t>Ventaja</a:t>
            </a:r>
            <a:r>
              <a:rPr sz="1100" b="1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00" b="1" u="none" dirty="0" err="1">
                <a:solidFill>
                  <a:srgbClr val="475569"/>
                </a:solidFill>
                <a:latin typeface="Plus Jakarta Sans"/>
              </a:rPr>
              <a:t>Competitiva</a:t>
            </a:r>
            <a:r>
              <a:rPr sz="1100" b="1" u="none" dirty="0">
                <a:solidFill>
                  <a:srgbClr val="475569"/>
                </a:solidFill>
                <a:latin typeface="Plus Jakarta Sans"/>
              </a:rPr>
              <a:t>: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Mi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sistema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combina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el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poder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los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LLM (Gemini) con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una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arquitectura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Offline-First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optimizada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para el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entorno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conectividad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venezolano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garantizando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disponibilidad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ajustes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adaptativos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00" u="none" dirty="0" err="1">
                <a:solidFill>
                  <a:srgbClr val="475569"/>
                </a:solidFill>
                <a:latin typeface="Plus Jakarta Sans"/>
              </a:rPr>
              <a:t>continuos</a:t>
            </a:r>
            <a:r>
              <a:rPr sz="110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968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METODOLOGÍA DE DESARROLLO DE SW</a:t>
            </a:r>
            <a:endParaRPr lang="es-VE" sz="2400" dirty="0"/>
          </a:p>
        </p:txBody>
      </p:sp>
      <p:sp>
        <p:nvSpPr>
          <p:cNvPr id="7" name="Rounded Rectangle 3"/>
          <p:cNvSpPr/>
          <p:nvPr/>
        </p:nvSpPr>
        <p:spPr>
          <a:xfrm>
            <a:off x="457200" y="3882330"/>
            <a:ext cx="5367867" cy="39757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4"/>
          <p:cNvSpPr/>
          <p:nvPr/>
        </p:nvSpPr>
        <p:spPr>
          <a:xfrm>
            <a:off x="457200" y="4396680"/>
            <a:ext cx="5367867" cy="39757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5"/>
          <p:cNvSpPr/>
          <p:nvPr/>
        </p:nvSpPr>
        <p:spPr>
          <a:xfrm>
            <a:off x="457200" y="4911030"/>
            <a:ext cx="5367867" cy="39757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9"/>
          <p:cNvSpPr/>
          <p:nvPr/>
        </p:nvSpPr>
        <p:spPr>
          <a:xfrm>
            <a:off x="457199" y="3882330"/>
            <a:ext cx="45719" cy="39757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0"/>
          <p:cNvSpPr/>
          <p:nvPr/>
        </p:nvSpPr>
        <p:spPr>
          <a:xfrm>
            <a:off x="457199" y="4396680"/>
            <a:ext cx="45719" cy="39757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1"/>
          <p:cNvSpPr/>
          <p:nvPr/>
        </p:nvSpPr>
        <p:spPr>
          <a:xfrm>
            <a:off x="457199" y="4911030"/>
            <a:ext cx="45719" cy="39757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4006155"/>
            <a:ext cx="170387" cy="151455"/>
          </a:xfrm>
          <a:prstGeom prst="rect">
            <a:avLst/>
          </a:prstGeom>
        </p:spPr>
      </p:pic>
      <p:pic>
        <p:nvPicPr>
          <p:cNvPr id="18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4520505"/>
            <a:ext cx="170387" cy="151455"/>
          </a:xfrm>
          <a:prstGeom prst="rect">
            <a:avLst/>
          </a:prstGeom>
        </p:spPr>
      </p:pic>
      <p:pic>
        <p:nvPicPr>
          <p:cNvPr id="19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5034855"/>
            <a:ext cx="151455" cy="151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2615505"/>
            <a:ext cx="72509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Justificación de Kanban (ClickUp)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06030"/>
            <a:ext cx="5460416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Seleccioné Kanban por su flexibilidad visual para gestionar el flujo de trabajo individual continuo, priorizando la limitación de trabajo en progreso (WIP) y asegurando entregables sostenibles.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3450" y="3996630"/>
            <a:ext cx="281118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Visibilidad Clara de Tareas por Estado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3451" y="4510980"/>
            <a:ext cx="3412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Mitigación del Riesgo R09 (Control de Carga)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401" y="5025330"/>
            <a:ext cx="374825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Alineación con Sprints Semanales de Entregables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25855"/>
            <a:ext cx="5525193" cy="278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1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PLANIFICACIÓN DEL PROYECTO DE SW</a:t>
            </a:r>
            <a:endParaRPr lang="es-VE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287675"/>
            <a:ext cx="10058400" cy="537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7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RIESGOS DEL PROYECTO DE SW</a:t>
            </a:r>
            <a:endParaRPr lang="es-VE" sz="24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514816"/>
              </p:ext>
            </p:extLst>
          </p:nvPr>
        </p:nvGraphicFramePr>
        <p:xfrm>
          <a:off x="1737360" y="1936866"/>
          <a:ext cx="8603674" cy="3582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8770"/>
                <a:gridCol w="1376073"/>
                <a:gridCol w="4436871"/>
                <a:gridCol w="1015980"/>
                <a:gridCol w="1015980"/>
              </a:tblGrid>
              <a:tr h="6574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effectLst/>
                        </a:rPr>
                        <a:t>ID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Tipo de Riesgo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effectLst/>
                        </a:rPr>
                        <a:t>Descripción del Riesgo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Probabilidad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Impacto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R01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Estimación / Requisitos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Carga Administrativa: La necesidad de que el administrador alimente toda la biblioteca de ejercicios manualmente.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R02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Tecnología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Lógica de Recomendación: Fallos en el algoritmo que genera las rutinas automáticas de baloncesto.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R03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Tecnología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Sincronización Offline: Pérdida de datos de rendimiento del jugador ingresados sin conexión.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9529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R04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Herramientas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Complejidad del Diseño UML: Dificultad para documentar correctamente la relación entre el administrador y el generador de rutinas en los diagramas.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34A853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Baja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Medio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241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RIESGOS DEL PROYECTO DE SW</a:t>
            </a:r>
            <a:endParaRPr lang="es-VE" sz="2400" dirty="0"/>
          </a:p>
        </p:txBody>
      </p:sp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292341"/>
              </p:ext>
            </p:extLst>
          </p:nvPr>
        </p:nvGraphicFramePr>
        <p:xfrm>
          <a:off x="1737360" y="1936866"/>
          <a:ext cx="8603674" cy="3582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8770"/>
                <a:gridCol w="1376073"/>
                <a:gridCol w="4436871"/>
                <a:gridCol w="1015980"/>
                <a:gridCol w="1015980"/>
              </a:tblGrid>
              <a:tr h="6574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effectLst/>
                        </a:rPr>
                        <a:t>ID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Tipo de Riesgo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effectLst/>
                        </a:rPr>
                        <a:t>Descripción del Riesgo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Probabilidad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Impacto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R05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Tecnología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Fragilidad del modo offline: Que la sincronización de datos genere errores o duplicados al pasar de SQLite al sistema online.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R06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Tecnología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Mismatch en recomendaciones: Que el algoritmo sugiere rutinas de intensidades erróneas que no correspondan a la posición o nivel actual del usuario.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R07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Estimación / Requisitos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Curva de Aprendizaje Tecnológica: Retrasos debido al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dominio de nuevas tecnologías necesarias para el proyecto.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9529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R08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Personas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Cuello de botella: Paralización del desarrollo si un miembro del equipo se estanca en una tarea de la que depende el resto del software.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50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RIESGOS DEL PROYECTO DE SW</a:t>
            </a:r>
            <a:endParaRPr lang="es-VE" sz="24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561687"/>
              </p:ext>
            </p:extLst>
          </p:nvPr>
        </p:nvGraphicFramePr>
        <p:xfrm>
          <a:off x="1737360" y="1936866"/>
          <a:ext cx="8603674" cy="3582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8770"/>
                <a:gridCol w="1376073"/>
                <a:gridCol w="4436871"/>
                <a:gridCol w="1015980"/>
                <a:gridCol w="1015980"/>
              </a:tblGrid>
              <a:tr h="6574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effectLst/>
                        </a:rPr>
                        <a:t>ID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Tipo de Riesgo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effectLst/>
                        </a:rPr>
                        <a:t>Descripción del Riesgo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Probabilidad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Impacto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R09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Personas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Fatiga por Multitarea: Al ser un equipo de solo dos miembros, ambos deben saltar constantemente entre Frontend, Backend y Documentación, reduciendo la productividad.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R10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Entorno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Fluctuaciones del Servicio Eléctrico: Cortes de energía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inesperados durante las sesiones de programación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6574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R11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Tecnología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Fallas o alta latencia en los proveedores de internet en Venezuela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34A853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Baja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9529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R12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Requisitos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Corrupción del Alcance (Scope Creep): Tendencia a querer añadir más funcionalidades más allá del baloncesto, retrasando el cronograma.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FBBC04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Medio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solidFill>
                            <a:srgbClr val="EA433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Alto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479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RIESGOS DEL PROYECTO DE SW</a:t>
            </a:r>
            <a:endParaRPr lang="es-VE" sz="2400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605461"/>
              </p:ext>
            </p:extLst>
          </p:nvPr>
        </p:nvGraphicFramePr>
        <p:xfrm>
          <a:off x="1936865" y="1662544"/>
          <a:ext cx="7847215" cy="4364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1900"/>
                <a:gridCol w="5325315"/>
              </a:tblGrid>
              <a:tr h="3225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effectLst/>
                        </a:rPr>
                        <a:t>Riesgos Detectado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Estrategia de Mitigación / Contingencia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5858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R01: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Carga Administrativa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Implementar una función de carga masiva de ejercicios en el módulo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de administración utilizando archivos estructurados.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5858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R02: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Lógica de Recomendación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Realizar pruebas funcionales y de caja negra exhaustivas simulando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diferentes perfiles de usuario (ej. Base principiante vs. Pívot avanzado).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5858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R03: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Sincronización Offline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Utilizar una base de datos local (SQLite) con protocolos estrictos de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sincronización basados en marcas de tiempo (timestamps).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8491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R04: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Complejidad del Diseño UML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Priorizar y refinar el diagrama de clases para definir con precisión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matemática cómo el sistema consume la biblioteca gestionada por el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admin.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8491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R05: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Fragilidad del modo offline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Implementar un sistema de identificadores únicos universales (UUIDs)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para los registros de las rutinas locales en lugar de IDs incrementales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estándar.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5858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R06: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Mismatch en recomendaciones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Establecer límites y reglas de negocio estrictas en el código fuente para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que las sugerencias de ejercicios no sobrepasen el nivel del jugador.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76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RIESGOS DEL PROYECTO DE SW</a:t>
            </a:r>
            <a:endParaRPr lang="es-VE" sz="24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928142"/>
              </p:ext>
            </p:extLst>
          </p:nvPr>
        </p:nvGraphicFramePr>
        <p:xfrm>
          <a:off x="1936865" y="1662544"/>
          <a:ext cx="7847215" cy="4364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1900"/>
                <a:gridCol w="5325315"/>
              </a:tblGrid>
              <a:tr h="3225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effectLst/>
                        </a:rPr>
                        <a:t>Riesgos Detectado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effectLst/>
                        </a:rPr>
                        <a:t>Estrategia de Mitigación / Contingencia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5858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R07: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Curva de Aprendizaje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Minimizar el uso de librerías desconocidas y, como plan de contingencia,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simplificar el alcance de la IA a una versión heurística funcional básica.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5858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R08: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Cuello de botella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Implementar prácticas de Pair Programming (programación en pareja)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en los módulos más críticos del núcleo del sistema (como el Generador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de Rutinas).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5858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R09: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Fatiga por Multitarea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Segmentar y dividir el trabajo en ClickUp por sprints semanales cerrados,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permitiendo que cada integrante se enfoque en un componente a la vez.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8491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R10: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Fluctuaciones Eléctricas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Aplicar el patrón de arquitectura Offline-First, dar tiempos generosos a las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tareas para tomar en cuenta percances debido a cortes eléctricos.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8491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R11: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Inestabilidad de Conectividad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Implementar un sistema asíncrono donde solo se subirán los datos cuando detecte una red estable.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  <a:tr h="5858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b="1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R12: </a:t>
                      </a:r>
                      <a:r>
                        <a:rPr lang="es-VE" sz="100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Corrupción del Alcance</a:t>
                      </a:r>
                      <a:endParaRPr lang="es-VE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Aplicar estricto control de cambios, "congelando" los requerimientos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funcionales actuales y documentando nuevas ideas solo para versiones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VE" sz="1000" dirty="0">
                          <a:solidFill>
                            <a:srgbClr val="1F1F1F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futuras.</a:t>
                      </a:r>
                      <a:endParaRPr lang="es-VE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79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TECNOLOGÍAS Y HERRAMIENTAS DE DESARROLLO</a:t>
            </a:r>
            <a:endParaRPr lang="es-VE" sz="2400" dirty="0"/>
          </a:p>
        </p:txBody>
      </p:sp>
      <p:sp>
        <p:nvSpPr>
          <p:cNvPr id="5" name="Rounded Rectangle 2"/>
          <p:cNvSpPr/>
          <p:nvPr/>
        </p:nvSpPr>
        <p:spPr>
          <a:xfrm>
            <a:off x="457200" y="1698724"/>
            <a:ext cx="363215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3"/>
          <p:cNvSpPr/>
          <p:nvPr/>
        </p:nvSpPr>
        <p:spPr>
          <a:xfrm>
            <a:off x="4279850" y="1698724"/>
            <a:ext cx="363215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8102500" y="1698724"/>
            <a:ext cx="3632299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5"/>
          <p:cNvSpPr/>
          <p:nvPr/>
        </p:nvSpPr>
        <p:spPr>
          <a:xfrm>
            <a:off x="457200" y="4465736"/>
            <a:ext cx="363215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6"/>
          <p:cNvSpPr/>
          <p:nvPr/>
        </p:nvSpPr>
        <p:spPr>
          <a:xfrm>
            <a:off x="4279850" y="4465736"/>
            <a:ext cx="363215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7"/>
          <p:cNvSpPr/>
          <p:nvPr/>
        </p:nvSpPr>
        <p:spPr>
          <a:xfrm>
            <a:off x="8102500" y="4465736"/>
            <a:ext cx="3632299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175" y="1974949"/>
            <a:ext cx="400050" cy="457200"/>
          </a:xfrm>
          <a:prstGeom prst="rect">
            <a:avLst/>
          </a:prstGeom>
        </p:spPr>
      </p:pic>
      <p:pic>
        <p:nvPicPr>
          <p:cNvPr id="12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51" y="1974949"/>
            <a:ext cx="457200" cy="457200"/>
          </a:xfrm>
          <a:prstGeom prst="rect">
            <a:avLst/>
          </a:prstGeom>
        </p:spPr>
      </p:pic>
      <p:pic>
        <p:nvPicPr>
          <p:cNvPr id="13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8625" y="1974949"/>
            <a:ext cx="400050" cy="457200"/>
          </a:xfrm>
          <a:prstGeom prst="rect">
            <a:avLst/>
          </a:prstGeom>
        </p:spPr>
      </p:pic>
      <p:pic>
        <p:nvPicPr>
          <p:cNvPr id="14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450" y="4741961"/>
            <a:ext cx="571500" cy="457200"/>
          </a:xfrm>
          <a:prstGeom prst="rect">
            <a:avLst/>
          </a:prstGeom>
        </p:spPr>
      </p:pic>
      <p:pic>
        <p:nvPicPr>
          <p:cNvPr id="15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896" y="4736619"/>
            <a:ext cx="514350" cy="457200"/>
          </a:xfrm>
          <a:prstGeom prst="rect">
            <a:avLst/>
          </a:prstGeom>
        </p:spPr>
      </p:pic>
      <p:pic>
        <p:nvPicPr>
          <p:cNvPr id="16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0050" y="4741961"/>
            <a:ext cx="457200" cy="457200"/>
          </a:xfrm>
          <a:prstGeom prst="rect">
            <a:avLst/>
          </a:prstGeom>
        </p:spPr>
      </p:pic>
      <p:sp>
        <p:nvSpPr>
          <p:cNvPr id="17" name="TextBox 18"/>
          <p:cNvSpPr txBox="1"/>
          <p:nvPr/>
        </p:nvSpPr>
        <p:spPr>
          <a:xfrm>
            <a:off x="673887" y="2860871"/>
            <a:ext cx="319862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principal para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lógica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POO del backend y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orquestación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servicios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TextBox 19"/>
          <p:cNvSpPr txBox="1"/>
          <p:nvPr/>
        </p:nvSpPr>
        <p:spPr>
          <a:xfrm>
            <a:off x="5807384" y="2584549"/>
            <a:ext cx="57708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Flet</a:t>
            </a:r>
            <a:r>
              <a:rPr sz="1000" b="1" i="0" u="none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(GUI)</a:t>
            </a:r>
          </a:p>
        </p:txBody>
      </p:sp>
      <p:sp>
        <p:nvSpPr>
          <p:cNvPr id="19" name="TextBox 20"/>
          <p:cNvSpPr txBox="1"/>
          <p:nvPr/>
        </p:nvSpPr>
        <p:spPr>
          <a:xfrm>
            <a:off x="4398545" y="2872804"/>
            <a:ext cx="320227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Framework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moderno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Python para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desarrollo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interfaz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rápida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reactiva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TextBox 21"/>
          <p:cNvSpPr txBox="1"/>
          <p:nvPr/>
        </p:nvSpPr>
        <p:spPr>
          <a:xfrm>
            <a:off x="7897499" y="2584549"/>
            <a:ext cx="404230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SQLite</a:t>
            </a:r>
          </a:p>
        </p:txBody>
      </p:sp>
      <p:sp>
        <p:nvSpPr>
          <p:cNvPr id="21" name="TextBox 22"/>
          <p:cNvSpPr txBox="1"/>
          <p:nvPr/>
        </p:nvSpPr>
        <p:spPr>
          <a:xfrm>
            <a:off x="8275335" y="2863230"/>
            <a:ext cx="32866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Base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relacional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liviana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optimizada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almacenamiento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local offline.</a:t>
            </a:r>
          </a:p>
        </p:txBody>
      </p:sp>
      <p:sp>
        <p:nvSpPr>
          <p:cNvPr id="22" name="TextBox 24"/>
          <p:cNvSpPr txBox="1"/>
          <p:nvPr/>
        </p:nvSpPr>
        <p:spPr>
          <a:xfrm>
            <a:off x="563375" y="5646836"/>
            <a:ext cx="330913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Agente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generación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rutinas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personalizadas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informes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rendimiento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TextBox 25"/>
          <p:cNvSpPr txBox="1"/>
          <p:nvPr/>
        </p:nvSpPr>
        <p:spPr>
          <a:xfrm>
            <a:off x="5703929" y="5351561"/>
            <a:ext cx="591509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 u="none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PlantUML</a:t>
            </a:r>
            <a:endParaRPr sz="1000" b="1" i="0" u="none" dirty="0">
              <a:solidFill>
                <a:srgbClr val="1E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6"/>
          <p:cNvSpPr txBox="1"/>
          <p:nvPr/>
        </p:nvSpPr>
        <p:spPr>
          <a:xfrm>
            <a:off x="4388587" y="5646836"/>
            <a:ext cx="332696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Herramienta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modelado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estándar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Casos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Uso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, Base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Clases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Box 27"/>
          <p:cNvSpPr txBox="1"/>
          <p:nvPr/>
        </p:nvSpPr>
        <p:spPr>
          <a:xfrm>
            <a:off x="7897499" y="5351561"/>
            <a:ext cx="404230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ClickUp</a:t>
            </a:r>
          </a:p>
        </p:txBody>
      </p:sp>
      <p:sp>
        <p:nvSpPr>
          <p:cNvPr id="26" name="TextBox 28"/>
          <p:cNvSpPr txBox="1"/>
          <p:nvPr/>
        </p:nvSpPr>
        <p:spPr>
          <a:xfrm>
            <a:off x="8211237" y="5646836"/>
            <a:ext cx="33032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tareas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tablero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Kanban,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Diagrama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de Gantt y control de </a:t>
            </a:r>
            <a:r>
              <a:rPr sz="1000" b="0" i="0" u="none" dirty="0" err="1">
                <a:latin typeface="Arial" panose="020B0604020202020204" pitchFamily="34" charset="0"/>
                <a:cs typeface="Arial" panose="020B0604020202020204" pitchFamily="34" charset="0"/>
              </a:rPr>
              <a:t>entregas</a:t>
            </a:r>
            <a:r>
              <a:rPr sz="10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TextBox 25"/>
          <p:cNvSpPr txBox="1"/>
          <p:nvPr/>
        </p:nvSpPr>
        <p:spPr>
          <a:xfrm>
            <a:off x="1736999" y="5346798"/>
            <a:ext cx="1072409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000" b="1" i="0" u="none" dirty="0" smtClean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Gemini IA</a:t>
            </a:r>
            <a:endParaRPr sz="1000" b="1" i="0" u="none" dirty="0">
              <a:solidFill>
                <a:srgbClr val="1E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5"/>
          <p:cNvSpPr txBox="1"/>
          <p:nvPr/>
        </p:nvSpPr>
        <p:spPr>
          <a:xfrm>
            <a:off x="2055994" y="2560833"/>
            <a:ext cx="43441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000" b="1" i="0" u="none" dirty="0" smtClean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sz="1000" b="1" i="0" u="none" dirty="0">
              <a:solidFill>
                <a:srgbClr val="1E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1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DEFINICIÓN DE REQUISITOS</a:t>
            </a:r>
            <a:endParaRPr lang="es-VE" sz="2400" dirty="0"/>
          </a:p>
        </p:txBody>
      </p:sp>
      <p:sp>
        <p:nvSpPr>
          <p:cNvPr id="6" name="Rounded Rectangle 2"/>
          <p:cNvSpPr/>
          <p:nvPr/>
        </p:nvSpPr>
        <p:spPr>
          <a:xfrm>
            <a:off x="500063" y="1291529"/>
            <a:ext cx="5524500" cy="5343525"/>
          </a:xfrm>
          <a:prstGeom prst="roundRect">
            <a:avLst>
              <a:gd name="adj" fmla="val 21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s-MX" sz="975" dirty="0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7" name="Rounded Rectangle 3"/>
          <p:cNvSpPr/>
          <p:nvPr/>
        </p:nvSpPr>
        <p:spPr>
          <a:xfrm>
            <a:off x="6210300" y="1291530"/>
            <a:ext cx="5524500" cy="5343525"/>
          </a:xfrm>
          <a:prstGeom prst="roundRect">
            <a:avLst>
              <a:gd name="adj" fmla="val 2139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567755"/>
            <a:ext cx="219075" cy="171450"/>
          </a:xfrm>
          <a:prstGeom prst="rect">
            <a:avLst/>
          </a:prstGeom>
        </p:spPr>
      </p:pic>
      <p:pic>
        <p:nvPicPr>
          <p:cNvPr id="9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567755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5075" y="1536751"/>
            <a:ext cx="2164054" cy="207749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166534"/>
                </a:solidFill>
                <a:latin typeface="Plus Jakarta Sans"/>
              </a:rPr>
              <a:t>Requisitos</a:t>
            </a:r>
            <a:r>
              <a:rPr sz="1350" b="1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350" b="1" i="0" u="none" dirty="0" err="1" smtClean="0">
                <a:solidFill>
                  <a:srgbClr val="166534"/>
                </a:solidFill>
                <a:latin typeface="Plus Jakarta Sans"/>
              </a:rPr>
              <a:t>Funcionales</a:t>
            </a:r>
            <a:endParaRPr sz="1350" b="1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6448425" y="1528990"/>
            <a:ext cx="2442976" cy="207749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chemeClr val="accent4">
                    <a:lumMod val="50000"/>
                  </a:schemeClr>
                </a:solidFill>
                <a:latin typeface="Plus Jakarta Sans"/>
              </a:rPr>
              <a:t>Requisitos</a:t>
            </a:r>
            <a:r>
              <a:rPr sz="1350" b="1" i="0" u="none" dirty="0">
                <a:solidFill>
                  <a:schemeClr val="accent4">
                    <a:lumMod val="50000"/>
                  </a:schemeClr>
                </a:solidFill>
                <a:latin typeface="Plus Jakarta Sans"/>
              </a:rPr>
              <a:t> </a:t>
            </a:r>
            <a:r>
              <a:rPr lang="en-US" sz="1350" b="1" i="0" u="none" dirty="0" smtClean="0">
                <a:solidFill>
                  <a:schemeClr val="accent4">
                    <a:lumMod val="50000"/>
                  </a:schemeClr>
                </a:solidFill>
                <a:latin typeface="Plus Jakarta Sans"/>
              </a:rPr>
              <a:t>No </a:t>
            </a:r>
            <a:r>
              <a:rPr sz="1350" b="1" i="0" u="none" dirty="0" err="1" smtClean="0">
                <a:solidFill>
                  <a:schemeClr val="accent4">
                    <a:lumMod val="50000"/>
                  </a:schemeClr>
                </a:solidFill>
                <a:latin typeface="Plus Jakarta Sans"/>
              </a:rPr>
              <a:t>Funcionales</a:t>
            </a:r>
            <a:endParaRPr sz="1350" b="1" i="0" u="none" dirty="0">
              <a:solidFill>
                <a:schemeClr val="accent4">
                  <a:lumMod val="50000"/>
                </a:schemeClr>
              </a:solidFill>
              <a:latin typeface="Plus Jakarta Sans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500063" y="1891867"/>
            <a:ext cx="5410286" cy="325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Gestión de Biblioteca </a:t>
            </a:r>
            <a:r>
              <a:rPr lang="es-VE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r>
              <a:rPr lang="es-VE" sz="1000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VE" sz="1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El administrador es el único encargado de ampliar y gestionar el repositorio de ejercicios guiados.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Filtrado por Tipo:</a:t>
            </a:r>
            <a:r>
              <a:rPr lang="es-VE" sz="1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Clasificación de ejercicios por categorías como tiro, pase o control de balón.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Generador de Rutinas y Recomendaciones:</a:t>
            </a:r>
            <a:r>
              <a:rPr lang="es-VE" sz="1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El sistema genera rutinas diarias/semanales automáticas y proyecciones de progreso basadas en los objetivos del usuario.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Evaluación de esfuerzo y ajuste de rutina: </a:t>
            </a:r>
            <a:r>
              <a:rPr lang="es-VE" sz="1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Al finalizar cada ejercicio o rutina, el sistema debe solicitar al usuario una valoración del esfuerzo, con base en esta valoración el sistema debe ajustar la dificultad de la siguiente recomendación de rutina.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Creación Manual:</a:t>
            </a:r>
            <a:r>
              <a:rPr lang="es-VE" sz="1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Los usuarios pueden diseñar sus propias rutinas seleccionando ejercicios de la biblioteca.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Estadísticas </a:t>
            </a:r>
            <a:r>
              <a:rPr lang="es-VE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de Rendimiento:</a:t>
            </a:r>
            <a:r>
              <a:rPr lang="es-VE" sz="1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Ingreso de resultados y generación de gráficos de evolución mensual.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Recordatorios:</a:t>
            </a:r>
            <a:r>
              <a:rPr lang="es-VE" sz="1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Notificaciones automáticas de entrenamientos pendientes.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Compartir Progreso:</a:t>
            </a:r>
            <a:r>
              <a:rPr lang="es-VE" sz="1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Generación de imágenes con estadísticas y logros para redes sociales.</a:t>
            </a:r>
            <a:endParaRPr lang="es-VE" sz="1000" u="none" strike="noStrike" dirty="0"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6210300" y="1801000"/>
            <a:ext cx="5452456" cy="4682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Interfaz Intuitiva: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Diseño visualmente atractivo y fácil de navegar.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Uso Offline: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Las funciones de biblioteca y visualización de rutinas deben estar disponibles sin conexión.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Escalabilidad: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La biblioteca debe permitir la adición masiva de ejercicios por parte del administrador de forma sencilla.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Seguridad y Roles: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Gestión estricta de sesiones limitada a dos roles: </a:t>
            </a: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Administrador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y </a:t>
            </a: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Cliente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Tiempo de Respuesta: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El motor de generación de rutinas debe procesar y devolver una recomendación en un tiempo apropiado bajo condiciones normales de carga.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Eficiencia de Almacenamiento: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El uso de la base de datos local (</a:t>
            </a:r>
            <a:r>
              <a:rPr lang="es-VE" sz="10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SQLite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) debe estar optimizado para que el archivo de datos no crezca exponencialmente con el registro de resultados históricos. 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Integridad de Datos: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En caso de un cierre inesperado de la aplicación, el sistema debe garantizar que los datos de la rutina actual no se corrompan.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Documentación Técnica: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El código debe seguir estándares de </a:t>
            </a:r>
            <a:r>
              <a:rPr lang="es-VE" sz="1000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Clean</a:t>
            </a:r>
            <a:r>
              <a:rPr lang="es-VE" sz="1000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VE" sz="1000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Code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y contar con documentación interna para que un nuevo desarrollador pueda entender la lógica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Tolerancia a fallos: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En caso de que el motor de recomendaciones falle al generar una rutina, el sistema no debe cerrarse inesperadamente en su lugar, debe proveer una rutina base de contingencia predeterminada. 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Sincronización: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El módulo encargado de sincronizar los datos locales con el servidor principal debe incluir un sistema de reintentos automáticos y soporte para reanudar transferencias pausadas, garantizando la integridad de la sincronización frente a cortes, fluctuaciones de internet o transiciones entre redes </a:t>
            </a:r>
            <a:r>
              <a:rPr lang="es-VE" sz="10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Wi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-Fi y datos móviles.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●"/>
            </a:pPr>
            <a:r>
              <a:rPr lang="es-VE" sz="1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Mantenibilidad del Modelo:</a:t>
            </a:r>
            <a:r>
              <a:rPr lang="es-VE" sz="1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La arquitectura del código debe permitir que las reglas lógicas del motor de generación de rutinas puedan ser actualizadas o parcheadas sin necesidad de que el usuario tenga que reinstalar toda la aplicación desde cero.</a:t>
            </a:r>
            <a:endParaRPr lang="es-VE" sz="1000" u="none" strike="noStrike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216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DIAGRAMA DE CASOS DE USO</a:t>
            </a:r>
            <a:endParaRPr lang="es-VE" sz="24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476" y="1205344"/>
            <a:ext cx="9343506" cy="56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51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DIAGRAMA DE CLASES</a:t>
            </a:r>
            <a:endParaRPr lang="es-VE" sz="24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49" y="1561672"/>
            <a:ext cx="11760724" cy="480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74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DIAGRAMA </a:t>
            </a:r>
            <a:r>
              <a:rPr lang="es-VE" sz="2400" smtClean="0"/>
              <a:t>DE SECUENCIA</a:t>
            </a:r>
            <a:endParaRPr lang="es-VE" sz="24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53" y="1578251"/>
            <a:ext cx="4511644" cy="399158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5" y="1561672"/>
            <a:ext cx="6562551" cy="486285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010" y="1561672"/>
            <a:ext cx="5027619" cy="486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84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BASE DE DATOS</a:t>
            </a:r>
            <a:endParaRPr lang="es-VE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53" y="1450399"/>
            <a:ext cx="11546532" cy="513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43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INTERFACES DE ENTRADA / SALIDA</a:t>
            </a:r>
            <a:endParaRPr lang="es-VE" sz="2400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882789"/>
              </p:ext>
            </p:extLst>
          </p:nvPr>
        </p:nvGraphicFramePr>
        <p:xfrm>
          <a:off x="1388224" y="2041389"/>
          <a:ext cx="9228976" cy="342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4488"/>
                <a:gridCol w="4614488"/>
              </a:tblGrid>
              <a:tr h="556158">
                <a:tc>
                  <a:txBody>
                    <a:bodyPr/>
                    <a:lstStyle/>
                    <a:p>
                      <a:r>
                        <a:rPr lang="es-VE" dirty="0" smtClean="0"/>
                        <a:t>Entradas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smtClean="0"/>
                        <a:t>Salidas</a:t>
                      </a:r>
                      <a:endParaRPr lang="es-VE" dirty="0"/>
                    </a:p>
                  </a:txBody>
                  <a:tcPr/>
                </a:tc>
              </a:tr>
              <a:tr h="556158">
                <a:tc>
                  <a:txBody>
                    <a:bodyPr/>
                    <a:lstStyle/>
                    <a:p>
                      <a:r>
                        <a:rPr lang="es-VE" dirty="0" smtClean="0"/>
                        <a:t>Formulario</a:t>
                      </a:r>
                      <a:r>
                        <a:rPr lang="es-VE" baseline="0" dirty="0" smtClean="0"/>
                        <a:t> de registro 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err="1" smtClean="0"/>
                        <a:t>Token</a:t>
                      </a:r>
                      <a:r>
                        <a:rPr lang="es-VE" baseline="0" dirty="0" smtClean="0"/>
                        <a:t> JWT en </a:t>
                      </a:r>
                      <a:r>
                        <a:rPr lang="es-VE" baseline="0" dirty="0" err="1" smtClean="0"/>
                        <a:t>login</a:t>
                      </a:r>
                      <a:endParaRPr lang="es-VE" dirty="0"/>
                    </a:p>
                  </a:txBody>
                  <a:tcPr/>
                </a:tc>
              </a:tr>
              <a:tr h="556158">
                <a:tc>
                  <a:txBody>
                    <a:bodyPr/>
                    <a:lstStyle/>
                    <a:p>
                      <a:r>
                        <a:rPr lang="es-VE" dirty="0" smtClean="0"/>
                        <a:t>Formulario de perfil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smtClean="0"/>
                        <a:t>Rutina generada mediante IA</a:t>
                      </a:r>
                      <a:endParaRPr lang="es-VE" dirty="0"/>
                    </a:p>
                  </a:txBody>
                  <a:tcPr/>
                </a:tc>
              </a:tr>
              <a:tr h="556158">
                <a:tc>
                  <a:txBody>
                    <a:bodyPr/>
                    <a:lstStyle/>
                    <a:p>
                      <a:r>
                        <a:rPr lang="es-VE" dirty="0" smtClean="0"/>
                        <a:t>Formulario de meta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smtClean="0"/>
                        <a:t>Estadísticas, resumen, esfuerzo</a:t>
                      </a:r>
                      <a:r>
                        <a:rPr lang="es-VE" baseline="0" dirty="0" smtClean="0"/>
                        <a:t> por categoría, racha</a:t>
                      </a:r>
                      <a:endParaRPr lang="es-VE" dirty="0"/>
                    </a:p>
                  </a:txBody>
                  <a:tcPr/>
                </a:tc>
              </a:tr>
              <a:tr h="556158">
                <a:tc>
                  <a:txBody>
                    <a:bodyPr/>
                    <a:lstStyle/>
                    <a:p>
                      <a:r>
                        <a:rPr lang="es-VE" dirty="0" smtClean="0"/>
                        <a:t>Selección de ejercicios para rutina manual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err="1" smtClean="0"/>
                        <a:t>Analisis</a:t>
                      </a:r>
                      <a:r>
                        <a:rPr lang="es-VE" dirty="0" smtClean="0"/>
                        <a:t> con IA</a:t>
                      </a:r>
                      <a:endParaRPr lang="es-VE" dirty="0"/>
                    </a:p>
                  </a:txBody>
                  <a:tcPr/>
                </a:tc>
              </a:tr>
              <a:tr h="556158">
                <a:tc>
                  <a:txBody>
                    <a:bodyPr/>
                    <a:lstStyle/>
                    <a:p>
                      <a:r>
                        <a:rPr lang="es-VE" dirty="0" smtClean="0"/>
                        <a:t>Valoración de esfuerzo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smtClean="0"/>
                        <a:t>Imagen PNG</a:t>
                      </a:r>
                      <a:r>
                        <a:rPr lang="es-VE" baseline="0" dirty="0" smtClean="0"/>
                        <a:t> de progreso para compartir</a:t>
                      </a:r>
                      <a:endParaRPr lang="es-V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587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PLAN DE MANTENIMIENTO</a:t>
            </a:r>
            <a:endParaRPr lang="es-VE" sz="240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270224"/>
              </p:ext>
            </p:extLst>
          </p:nvPr>
        </p:nvGraphicFramePr>
        <p:xfrm>
          <a:off x="839582" y="1958263"/>
          <a:ext cx="10673544" cy="343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8386"/>
                <a:gridCol w="2668386"/>
                <a:gridCol w="2668386"/>
                <a:gridCol w="2668386"/>
              </a:tblGrid>
              <a:tr h="688764">
                <a:tc>
                  <a:txBody>
                    <a:bodyPr/>
                    <a:lstStyle/>
                    <a:p>
                      <a:r>
                        <a:rPr lang="es-VE" dirty="0" smtClean="0"/>
                        <a:t>Correctivo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smtClean="0"/>
                        <a:t>Adaptativo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smtClean="0"/>
                        <a:t>Perfectivo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dirty="0" smtClean="0"/>
                        <a:t>Preventivo</a:t>
                      </a:r>
                      <a:endParaRPr lang="es-VE" dirty="0"/>
                    </a:p>
                  </a:txBody>
                  <a:tcPr/>
                </a:tc>
              </a:tr>
              <a:tr h="688764">
                <a:tc>
                  <a:txBody>
                    <a:bodyPr/>
                    <a:lstStyle/>
                    <a:p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Corrección del bug de cálculo de racha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Integración con Google </a:t>
                      </a:r>
                      <a:r>
                        <a:rPr lang="es-MX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Gemini</a:t>
                      </a:r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 detección dinámica de modelos.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Optimización de </a:t>
                      </a:r>
                      <a:r>
                        <a:rPr lang="es-VE" dirty="0" smtClean="0"/>
                        <a:t>database.py</a:t>
                      </a:r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VE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Limpieza final de código</a:t>
                      </a:r>
                      <a:endParaRPr lang="es-VE" dirty="0"/>
                    </a:p>
                  </a:txBody>
                  <a:tcPr/>
                </a:tc>
              </a:tr>
              <a:tr h="688764">
                <a:tc>
                  <a:txBody>
                    <a:bodyPr/>
                    <a:lstStyle/>
                    <a:p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Corrección del botón "Crear Rutina" que no se habilitaba.</a:t>
                      </a:r>
                      <a:endParaRPr lang="es-MX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Ampliación de la categoría "Pase" con 5 ejercicios.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Documentación interna del código.</a:t>
                      </a:r>
                    </a:p>
                    <a:p>
                      <a:endParaRPr lang="es-VE" dirty="0"/>
                    </a:p>
                  </a:txBody>
                  <a:tcPr/>
                </a:tc>
              </a:tr>
              <a:tr h="688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Corrección del </a:t>
                      </a:r>
                      <a:r>
                        <a:rPr lang="es-MX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layout</a:t>
                      </a:r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botones que se solapaban.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Actualización del </a:t>
                      </a:r>
                      <a:r>
                        <a:rPr lang="es-MX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</a:t>
                      </a:r>
                      <a:r>
                        <a:rPr lang="es-MX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IA para incluir la nueva categoría.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502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CONCLUSIONES Y RECOMENDACIONES</a:t>
            </a:r>
            <a:endParaRPr lang="es-VE" sz="2400" dirty="0"/>
          </a:p>
        </p:txBody>
      </p:sp>
      <p:sp>
        <p:nvSpPr>
          <p:cNvPr id="20" name="Rounded Rectangle 3"/>
          <p:cNvSpPr/>
          <p:nvPr/>
        </p:nvSpPr>
        <p:spPr>
          <a:xfrm>
            <a:off x="415637" y="2723257"/>
            <a:ext cx="5527964" cy="3162154"/>
          </a:xfrm>
          <a:prstGeom prst="roundRect">
            <a:avLst>
              <a:gd name="adj" fmla="val 7885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4"/>
          <p:cNvSpPr/>
          <p:nvPr/>
        </p:nvSpPr>
        <p:spPr>
          <a:xfrm>
            <a:off x="6225348" y="2723257"/>
            <a:ext cx="5334000" cy="3162154"/>
          </a:xfrm>
          <a:prstGeom prst="roundRect">
            <a:avLst>
              <a:gd name="adj" fmla="val 7885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2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86" y="2999481"/>
            <a:ext cx="236239" cy="265769"/>
          </a:xfrm>
          <a:prstGeom prst="rect">
            <a:avLst/>
          </a:prstGeom>
        </p:spPr>
      </p:pic>
      <p:pic>
        <p:nvPicPr>
          <p:cNvPr id="23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999482"/>
            <a:ext cx="133350" cy="171450"/>
          </a:xfrm>
          <a:prstGeom prst="rect">
            <a:avLst/>
          </a:prstGeom>
        </p:spPr>
      </p:pic>
      <p:sp>
        <p:nvSpPr>
          <p:cNvPr id="24" name="TextBox 12"/>
          <p:cNvSpPr txBox="1"/>
          <p:nvPr/>
        </p:nvSpPr>
        <p:spPr>
          <a:xfrm>
            <a:off x="882005" y="3018438"/>
            <a:ext cx="1744817" cy="207749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38BDF8"/>
                </a:solidFill>
                <a:latin typeface="Plus Jakarta Sans"/>
              </a:rPr>
              <a:t>Conclusiones</a:t>
            </a:r>
            <a:endParaRPr sz="13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25" name="TextBox 13"/>
          <p:cNvSpPr txBox="1"/>
          <p:nvPr/>
        </p:nvSpPr>
        <p:spPr>
          <a:xfrm>
            <a:off x="590204" y="3294756"/>
            <a:ext cx="5210521" cy="2200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presento el desarrollo de un sistema completo de gestión de rutinas de baloncesto con POO/IA, se implemento una arquitectura en capas compuesta por la librería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Flet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Python como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frotend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Python,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SQLAchemy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como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Google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fallback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como motor de recomendaciones y análisis esto con el motivo de garantizar la disponibilidad del servicio ante fallos de la IA, la metodología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Kanban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permitio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gestionar el proyecto sin saturación de tareas mediante </a:t>
            </a:r>
            <a:r>
              <a:rPr lang="es-MX" sz="13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sprints</a:t>
            </a:r>
            <a:r>
              <a:rPr lang="es-MX" sz="13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semanales cerrados, los 12 riesgos identificados fueron mitigados con estrategias concretas que aseguraron la entrega funcional del sistema dentro de las fechas previstas</a:t>
            </a:r>
            <a:endParaRPr lang="es-VE" sz="13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5"/>
          <p:cNvSpPr txBox="1"/>
          <p:nvPr/>
        </p:nvSpPr>
        <p:spPr>
          <a:xfrm>
            <a:off x="6486525" y="3294757"/>
            <a:ext cx="4953000" cy="1744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ts val="1679"/>
              </a:lnSpc>
              <a:buFont typeface="Arial" panose="020B0604020202020204" pitchFamily="34" charset="0"/>
              <a:buChar char="•"/>
            </a:pPr>
            <a:r>
              <a:rPr lang="es-MX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Implementar sincronización automática entre </a:t>
            </a:r>
            <a:r>
              <a:rPr lang="es-MX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r>
              <a:rPr lang="es-MX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s-MX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Aiven</a:t>
            </a:r>
            <a:r>
              <a:rPr lang="es-MX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escenarios </a:t>
            </a:r>
            <a:r>
              <a:rPr lang="es-MX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multidispositivo</a:t>
            </a:r>
            <a:r>
              <a:rPr lang="es-MX" sz="13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ts val="1679"/>
              </a:lnSpc>
              <a:buFont typeface="Arial" panose="020B0604020202020204" pitchFamily="34" charset="0"/>
              <a:buChar char="•"/>
            </a:pPr>
            <a:r>
              <a:rPr lang="es-VE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Incorporar notificaciones o recordatorios automáticos de entrenamiento</a:t>
            </a:r>
            <a:r>
              <a:rPr lang="es-VE" sz="13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ts val="1679"/>
              </a:lnSpc>
              <a:buFont typeface="Arial" panose="020B0604020202020204" pitchFamily="34" charset="0"/>
              <a:buChar char="•"/>
            </a:pPr>
            <a:r>
              <a:rPr lang="es-VE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incorporar módulos de visión por </a:t>
            </a:r>
            <a:r>
              <a:rPr lang="es-VE" sz="13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camara</a:t>
            </a:r>
            <a:r>
              <a:rPr lang="es-VE" sz="13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VE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análisis automático</a:t>
            </a:r>
            <a:endParaRPr lang="es-VE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ts val="1679"/>
              </a:lnSpc>
              <a:buFont typeface="Arial" panose="020B0604020202020204" pitchFamily="34" charset="0"/>
              <a:buChar char="•"/>
            </a:pPr>
            <a:endParaRPr lang="es-MX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lnSpc>
                <a:spcPts val="1679"/>
              </a:lnSpc>
              <a:buFont typeface="Arial" panose="020B0604020202020204" pitchFamily="34" charset="0"/>
              <a:buChar char="•"/>
            </a:pPr>
            <a:endParaRPr sz="1300" b="0" i="0" u="none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6646975" y="2923021"/>
            <a:ext cx="171393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sz="1350" b="1" dirty="0" smtClean="0">
                <a:solidFill>
                  <a:srgbClr val="00B050"/>
                </a:solidFill>
                <a:latin typeface="Plus Jakarta Sans"/>
              </a:rPr>
              <a:t>Recomendaciones</a:t>
            </a:r>
            <a:endParaRPr lang="es-VE" sz="1350" b="1" dirty="0">
              <a:solidFill>
                <a:srgbClr val="00B05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63551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2000</Words>
  <Application>Microsoft Office PowerPoint</Application>
  <PresentationFormat>Panorámica</PresentationFormat>
  <Paragraphs>300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Plus Jakarta Sans</vt:lpstr>
      <vt:lpstr>Roboto</vt:lpstr>
      <vt:lpstr>Times New Roman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Yaskelly Yedra</dc:creator>
  <cp:lastModifiedBy>Cuenta Microsoft</cp:lastModifiedBy>
  <cp:revision>35</cp:revision>
  <dcterms:created xsi:type="dcterms:W3CDTF">2024-09-12T15:26:05Z</dcterms:created>
  <dcterms:modified xsi:type="dcterms:W3CDTF">2026-09-29T17:39:15Z</dcterms:modified>
</cp:coreProperties>
</file>